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5" r:id="rId21"/>
    <p:sldId id="277" r:id="rId22"/>
    <p:sldId id="273" r:id="rId23"/>
  </p:sldIdLst>
  <p:sldSz cx="18288000" cy="10287000"/>
  <p:notesSz cx="6858000" cy="9144000"/>
  <p:embeddedFontLst>
    <p:embeddedFont>
      <p:font typeface="League Spartan" panose="020B0600000101010101" charset="0"/>
      <p:regular r:id="rId25"/>
    </p:embeddedFont>
    <p:embeddedFont>
      <p:font typeface="Poppins" panose="00000500000000000000" pitchFamily="2" charset="0"/>
      <p:regular r:id="rId26"/>
    </p:embeddedFont>
    <p:embeddedFont>
      <p:font typeface="Poppins Bold" panose="020B0600000101010101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BNPL stands for Buy Now, Pay Later.</a:t>
            </a:r>
          </a:p>
          <a:p>
            <a:r>
              <a:rPr lang="en-US"/>
              <a:t>It is a short-term installment payment option that allows consumers to purchase something immediately and pay for it later, usually in four or fewer payments.</a:t>
            </a:r>
          </a:p>
          <a:p>
            <a:endParaRPr lang="en-US"/>
          </a:p>
          <a:p>
            <a:r>
              <a:rPr lang="en-US"/>
              <a:t>This makes the purchase feel more manageable at checkout, because customers do not have to pay the full amount right away.</a:t>
            </a:r>
          </a:p>
          <a:p>
            <a:endParaRPr lang="en-US"/>
          </a:p>
          <a:p>
            <a:r>
              <a:rPr lang="en-US"/>
              <a:t>But it is important to remember that BNPL still works like a form of short-term credit.</a:t>
            </a:r>
          </a:p>
          <a:p>
            <a:r>
              <a:rPr lang="en-US"/>
              <a:t>Next, I will explain how this payment model works step by step.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atista.com/statistics/1421852/bnpl-user-demographics-usa/" TargetMode="External"/><Relationship Id="rId13" Type="http://schemas.openxmlformats.org/officeDocument/2006/relationships/hyperlink" Target="https://store.klarna.com/us/applefromklarna/p/iphone-17-pro-max/cosmic-orange-256gb/" TargetMode="External"/><Relationship Id="rId18" Type="http://schemas.openxmlformats.org/officeDocument/2006/relationships/hyperlink" Target="https://www.statista.com/statistics/1311122/global-bnpl-market-value-forecast/" TargetMode="External"/><Relationship Id="rId3" Type="http://schemas.openxmlformats.org/officeDocument/2006/relationships/hyperlink" Target="https://www.experian.com/blogs/ask-experian/pros-cons-of-buy-now-pay-later/" TargetMode="External"/><Relationship Id="rId7" Type="http://schemas.openxmlformats.org/officeDocument/2006/relationships/hyperlink" Target="https://files.consumerfinance.gov/f/documents/cfpb_buy-now-pay-later-market-trends-consumer-impacts_report_2022-09.pdf" TargetMode="External"/><Relationship Id="rId12" Type="http://schemas.openxmlformats.org/officeDocument/2006/relationships/hyperlink" Target="https://www.klarna.com/us/" TargetMode="External"/><Relationship Id="rId17" Type="http://schemas.openxmlformats.org/officeDocument/2006/relationships/hyperlink" Target="https://www.forbes.com/sites/ronshevlin/2022/04/10/breakout-apples-plan-to-pump-up-apple-card-and-apple-pay-and-win-the-payments-war/" TargetMode="External"/><Relationship Id="rId2" Type="http://schemas.openxmlformats.org/officeDocument/2006/relationships/hyperlink" Target="https://www.apple.com/newsroom/2024/10/apple-celebrates-10-years-of-apple-pay/" TargetMode="External"/><Relationship Id="rId16" Type="http://schemas.openxmlformats.org/officeDocument/2006/relationships/hyperlink" Target="https://www.lendingtree.com/personal/buy-now-pay-later-loan-statistic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nsumerfinance.gov/ask-cfpb/what-is-a-buy-now-pay-later-bnpl-loan-en-2119/" TargetMode="External"/><Relationship Id="rId11" Type="http://schemas.openxmlformats.org/officeDocument/2006/relationships/hyperlink" Target="https://www.howtheygrow.co/p/how-klarna-grows-building-the-shopping" TargetMode="External"/><Relationship Id="rId5" Type="http://schemas.openxmlformats.org/officeDocument/2006/relationships/hyperlink" Target="https://www.businesswire.com/news/home/20250227435262/en/More-Consumers-Using-Buy-Now-Pay-Later-J.D.-Power-Finds" TargetMode="External"/><Relationship Id="rId15" Type="http://schemas.openxmlformats.org/officeDocument/2006/relationships/hyperlink" Target="https://www.sec.gov/Archives/edgar/data/2003292/000162828025012824/klarnagroupplcf-1.htm" TargetMode="External"/><Relationship Id="rId10" Type="http://schemas.openxmlformats.org/officeDocument/2006/relationships/hyperlink" Target="https://hbr.org/2024/11/research-how-buy-now-pay-later-is-changing-consumer-spending" TargetMode="External"/><Relationship Id="rId4" Type="http://schemas.openxmlformats.org/officeDocument/2006/relationships/hyperlink" Target="https://www.reuters.com/business/finance/klarna-valued-nearly-20-billion-shares-jump-nyse-debut-2025-09-10/" TargetMode="External"/><Relationship Id="rId9" Type="http://schemas.openxmlformats.org/officeDocument/2006/relationships/hyperlink" Target="https://www.bostonfed.org/publications/current-policy-perspectives/2024/buy-now-pay-later-who-uses-it-why.aspx" TargetMode="External"/><Relationship Id="rId14" Type="http://schemas.openxmlformats.org/officeDocument/2006/relationships/hyperlink" Target="https://investors.klarna.com/understand-klarna/default.aspx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0879" y="3714005"/>
            <a:ext cx="13671347" cy="182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6"/>
              </a:lnSpc>
            </a:pPr>
            <a:r>
              <a:rPr lang="en-US" sz="8911" spc="-16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 Later, Spend More: </a:t>
            </a:r>
          </a:p>
          <a:p>
            <a:pPr algn="l">
              <a:lnSpc>
                <a:spcPts val="6572"/>
              </a:lnSpc>
            </a:pPr>
            <a:r>
              <a:rPr lang="en-US" sz="5569" spc="-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Klarna and the Hidden Risks of BNPL</a:t>
            </a:r>
          </a:p>
        </p:txBody>
      </p:sp>
      <p:sp>
        <p:nvSpPr>
          <p:cNvPr id="3" name="Freeform 3"/>
          <p:cNvSpPr/>
          <p:nvPr/>
        </p:nvSpPr>
        <p:spPr>
          <a:xfrm>
            <a:off x="12992545" y="7183486"/>
            <a:ext cx="4266755" cy="2074814"/>
          </a:xfrm>
          <a:custGeom>
            <a:avLst/>
            <a:gdLst/>
            <a:ahLst/>
            <a:cxnLst/>
            <a:rect l="l" t="t" r="r" b="b"/>
            <a:pathLst>
              <a:path w="4266755" h="2074814">
                <a:moveTo>
                  <a:pt x="0" y="0"/>
                </a:moveTo>
                <a:lnTo>
                  <a:pt x="4266755" y="0"/>
                </a:lnTo>
                <a:lnTo>
                  <a:pt x="4266755" y="2074814"/>
                </a:lnTo>
                <a:lnTo>
                  <a:pt x="0" y="2074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450462"/>
            <a:ext cx="22817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17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presented by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067400"/>
            <a:ext cx="9471060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CIS 3620 Group 5</a:t>
            </a:r>
          </a:p>
          <a:p>
            <a:pPr algn="l">
              <a:lnSpc>
                <a:spcPts val="3079"/>
              </a:lnSpc>
            </a:pPr>
            <a:r>
              <a:rPr lang="en-US" sz="2199" spc="-10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Gyuhyoun (Evelyn) Kim, Omar Portillo-Carrillo, Riazul Raj, Ryan Reimers</a:t>
            </a:r>
          </a:p>
          <a:p>
            <a:pPr algn="l">
              <a:lnSpc>
                <a:spcPts val="3079"/>
              </a:lnSpc>
            </a:pPr>
            <a:endParaRPr lang="en-US" sz="2199" spc="-109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endParaRPr lang="en-US" sz="2199" spc="-109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0807" y="3560166"/>
            <a:ext cx="16566385" cy="3541521"/>
            <a:chOff x="0" y="0"/>
            <a:chExt cx="22088514" cy="472202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722028" cy="4722028"/>
              <a:chOff x="0" y="0"/>
              <a:chExt cx="13716000" cy="13716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11577657" y="0"/>
              <a:ext cx="4722028" cy="4722028"/>
              <a:chOff x="0" y="0"/>
              <a:chExt cx="13716000" cy="13716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6524" t="-44884" r="-10083" b="-2392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7366485" y="0"/>
              <a:ext cx="4722028" cy="4722028"/>
              <a:chOff x="0" y="0"/>
              <a:chExt cx="13716000" cy="13716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5383185" y="3560166"/>
            <a:ext cx="3541521" cy="3541521"/>
            <a:chOff x="0" y="0"/>
            <a:chExt cx="13716000" cy="1371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r="-5788" b="-327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1190625"/>
            <a:ext cx="8691457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0807" y="7409092"/>
            <a:ext cx="3742376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-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Gyuhyoun Kim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76482" y="7409092"/>
            <a:ext cx="3382385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-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Ryan Reimers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96860" y="7409092"/>
            <a:ext cx="194979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-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Omar P.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90799" y="7409092"/>
            <a:ext cx="237347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 spc="-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Riazul Raj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90625"/>
            <a:ext cx="93255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Outline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4668" y="1984375"/>
            <a:ext cx="7137184" cy="805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 and the BNPL model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What Is Klarna?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What Is BNPL?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How the BNPL Model Works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Growth of BNPL in FinTech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How Klarna Makes Money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Why BNPL Became Popular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users and consumer benefits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Who Uses BNPL?</a:t>
            </a:r>
          </a:p>
          <a:p>
            <a:pPr algn="l">
              <a:lnSpc>
                <a:spcPts val="4015"/>
              </a:lnSpc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- Consumer Benefits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Hidden financial and psychological risks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Merchant strategy and profitability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Apple checkout case study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Who Does BNPL Really Serve?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  <a:p>
            <a:pPr marL="577973" lvl="1" indent="-288987" algn="l">
              <a:lnSpc>
                <a:spcPts val="4015"/>
              </a:lnSpc>
              <a:buFont typeface="Arial"/>
              <a:buChar char="•"/>
            </a:pPr>
            <a:r>
              <a:rPr lang="en-US" sz="2677" spc="-6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18053" y="3128182"/>
            <a:ext cx="8295331" cy="5526764"/>
          </a:xfrm>
          <a:custGeom>
            <a:avLst/>
            <a:gdLst/>
            <a:ahLst/>
            <a:cxnLst/>
            <a:rect l="l" t="t" r="r" b="b"/>
            <a:pathLst>
              <a:path w="8295331" h="5526764">
                <a:moveTo>
                  <a:pt x="0" y="0"/>
                </a:moveTo>
                <a:lnTo>
                  <a:pt x="8295331" y="0"/>
                </a:lnTo>
                <a:lnTo>
                  <a:pt x="8295331" y="5526764"/>
                </a:lnTo>
                <a:lnTo>
                  <a:pt x="0" y="5526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Klarna?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3854139"/>
            <a:ext cx="8895070" cy="4017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9"/>
              </a:lnSpc>
            </a:pPr>
            <a:r>
              <a:rPr lang="en-US" sz="3245" b="1" spc="-8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Klarna</a:t>
            </a:r>
          </a:p>
          <a:p>
            <a:pPr marL="657542" lvl="1" indent="-328771" algn="l">
              <a:lnSpc>
                <a:spcPts val="3959"/>
              </a:lnSpc>
              <a:buFont typeface="Arial"/>
              <a:buChar char="•"/>
            </a:pPr>
            <a:r>
              <a:rPr lang="en-US" sz="3045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Swedish FinTech company founded in 2005</a:t>
            </a:r>
          </a:p>
          <a:p>
            <a:pPr marL="657542" lvl="1" indent="-328771" algn="l">
              <a:lnSpc>
                <a:spcPts val="3959"/>
              </a:lnSpc>
              <a:buFont typeface="Arial"/>
              <a:buChar char="•"/>
            </a:pPr>
            <a:r>
              <a:rPr lang="en-US" sz="3045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flexible payment and checkout solutions</a:t>
            </a:r>
          </a:p>
          <a:p>
            <a:pPr marL="657542" lvl="1" indent="-328771" algn="l">
              <a:lnSpc>
                <a:spcPts val="3959"/>
              </a:lnSpc>
              <a:buFont typeface="Arial"/>
              <a:buChar char="•"/>
            </a:pPr>
            <a:r>
              <a:rPr lang="en-US" sz="3045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known for Buy Now, Pay Later services</a:t>
            </a:r>
          </a:p>
          <a:p>
            <a:pPr marL="657542" lvl="1" indent="-328771" algn="l">
              <a:lnSpc>
                <a:spcPts val="3959"/>
              </a:lnSpc>
              <a:buFont typeface="Arial"/>
              <a:buChar char="•"/>
            </a:pPr>
            <a:r>
              <a:rPr lang="en-US" sz="3045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Partners with online and in-store retailers</a:t>
            </a:r>
          </a:p>
          <a:p>
            <a:pPr marL="657542" lvl="1" indent="-328771" algn="l">
              <a:lnSpc>
                <a:spcPts val="3959"/>
              </a:lnSpc>
              <a:buFont typeface="Arial"/>
              <a:buChar char="•"/>
            </a:pPr>
            <a:r>
              <a:rPr lang="en-US" sz="3045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Listed on the NYSE in September 2025 under ticker </a:t>
            </a:r>
            <a:r>
              <a:rPr lang="en-US" sz="3045" b="1" spc="-7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8053" y="8635896"/>
            <a:ext cx="8895070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Reuters, 2025. Photo: Brendan McDermid/Reuters.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BNPL?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306938"/>
            <a:ext cx="16230600" cy="1018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045" spc="-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type of installment loan that typically allows you to purchase something immediately with little or no initial payment and pay off the balance over four or fewer payments.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94297" y="3551441"/>
            <a:ext cx="13499406" cy="140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9"/>
              </a:lnSpc>
            </a:pPr>
            <a:r>
              <a:rPr lang="en-US" sz="7999" b="1" spc="-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Buy Now, Pay Later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446709"/>
            <a:ext cx="8895070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CFPB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94548" y="2513533"/>
            <a:ext cx="4018966" cy="7442529"/>
          </a:xfrm>
          <a:custGeom>
            <a:avLst/>
            <a:gdLst/>
            <a:ahLst/>
            <a:cxnLst/>
            <a:rect l="l" t="t" r="r" b="b"/>
            <a:pathLst>
              <a:path w="4018966" h="7442529">
                <a:moveTo>
                  <a:pt x="0" y="0"/>
                </a:moveTo>
                <a:lnTo>
                  <a:pt x="4018966" y="0"/>
                </a:lnTo>
                <a:lnTo>
                  <a:pt x="4018966" y="7442530"/>
                </a:lnTo>
                <a:lnTo>
                  <a:pt x="0" y="7442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42551" y="2513533"/>
            <a:ext cx="7688518" cy="1662642"/>
          </a:xfrm>
          <a:custGeom>
            <a:avLst/>
            <a:gdLst/>
            <a:ahLst/>
            <a:cxnLst/>
            <a:rect l="l" t="t" r="r" b="b"/>
            <a:pathLst>
              <a:path w="7688518" h="1662642">
                <a:moveTo>
                  <a:pt x="0" y="0"/>
                </a:moveTo>
                <a:lnTo>
                  <a:pt x="7688518" y="0"/>
                </a:lnTo>
                <a:lnTo>
                  <a:pt x="7688518" y="1662642"/>
                </a:lnTo>
                <a:lnTo>
                  <a:pt x="0" y="1662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42551" y="4260416"/>
            <a:ext cx="7688518" cy="1643421"/>
          </a:xfrm>
          <a:custGeom>
            <a:avLst/>
            <a:gdLst/>
            <a:ahLst/>
            <a:cxnLst/>
            <a:rect l="l" t="t" r="r" b="b"/>
            <a:pathLst>
              <a:path w="7688518" h="1643421">
                <a:moveTo>
                  <a:pt x="0" y="0"/>
                </a:moveTo>
                <a:lnTo>
                  <a:pt x="7688518" y="0"/>
                </a:lnTo>
                <a:lnTo>
                  <a:pt x="7688518" y="1643421"/>
                </a:lnTo>
                <a:lnTo>
                  <a:pt x="0" y="1643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342551" y="5988868"/>
            <a:ext cx="7688518" cy="1710695"/>
          </a:xfrm>
          <a:custGeom>
            <a:avLst/>
            <a:gdLst/>
            <a:ahLst/>
            <a:cxnLst/>
            <a:rect l="l" t="t" r="r" b="b"/>
            <a:pathLst>
              <a:path w="7688518" h="1710695">
                <a:moveTo>
                  <a:pt x="0" y="0"/>
                </a:moveTo>
                <a:lnTo>
                  <a:pt x="7688518" y="0"/>
                </a:lnTo>
                <a:lnTo>
                  <a:pt x="7688518" y="1710695"/>
                </a:lnTo>
                <a:lnTo>
                  <a:pt x="0" y="17106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the BNPL Model Works</a:t>
            </a:r>
          </a:p>
        </p:txBody>
      </p:sp>
      <p:sp>
        <p:nvSpPr>
          <p:cNvPr id="8" name="Freeform 8"/>
          <p:cNvSpPr/>
          <p:nvPr/>
        </p:nvSpPr>
        <p:spPr>
          <a:xfrm>
            <a:off x="7342551" y="7793667"/>
            <a:ext cx="7688518" cy="2162396"/>
          </a:xfrm>
          <a:custGeom>
            <a:avLst/>
            <a:gdLst/>
            <a:ahLst/>
            <a:cxnLst/>
            <a:rect l="l" t="t" r="r" b="b"/>
            <a:pathLst>
              <a:path w="7688518" h="2162396">
                <a:moveTo>
                  <a:pt x="0" y="0"/>
                </a:moveTo>
                <a:lnTo>
                  <a:pt x="7688518" y="0"/>
                </a:lnTo>
                <a:lnTo>
                  <a:pt x="7688518" y="2162396"/>
                </a:lnTo>
                <a:lnTo>
                  <a:pt x="0" y="2162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136283" y="9937013"/>
            <a:ext cx="2935497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Klarna official website; CFPB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30093" y="2266829"/>
            <a:ext cx="17427813" cy="7775044"/>
          </a:xfrm>
          <a:custGeom>
            <a:avLst/>
            <a:gdLst/>
            <a:ahLst/>
            <a:cxnLst/>
            <a:rect l="l" t="t" r="r" b="b"/>
            <a:pathLst>
              <a:path w="17427813" h="7775044">
                <a:moveTo>
                  <a:pt x="0" y="0"/>
                </a:moveTo>
                <a:lnTo>
                  <a:pt x="17427814" y="0"/>
                </a:lnTo>
                <a:lnTo>
                  <a:pt x="17427814" y="7775044"/>
                </a:lnTo>
                <a:lnTo>
                  <a:pt x="0" y="7775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0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Klarna Makes Money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94991" y="2542420"/>
            <a:ext cx="9148464" cy="6792735"/>
          </a:xfrm>
          <a:custGeom>
            <a:avLst/>
            <a:gdLst/>
            <a:ahLst/>
            <a:cxnLst/>
            <a:rect l="l" t="t" r="r" b="b"/>
            <a:pathLst>
              <a:path w="9148464" h="6792735">
                <a:moveTo>
                  <a:pt x="0" y="0"/>
                </a:moveTo>
                <a:lnTo>
                  <a:pt x="9148465" y="0"/>
                </a:lnTo>
                <a:lnTo>
                  <a:pt x="9148465" y="6792735"/>
                </a:lnTo>
                <a:lnTo>
                  <a:pt x="0" y="6792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BNPL Became Popular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4991" y="9344904"/>
            <a:ext cx="8895070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Statista, based on Worldpay’s Global Payments Report 2026, p. 28.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09206" y="2766963"/>
            <a:ext cx="8036806" cy="631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595" lvl="1" indent="-274797" algn="l">
              <a:lnSpc>
                <a:spcPts val="3054"/>
              </a:lnSpc>
              <a:buFont typeface="Arial"/>
              <a:buChar char="•"/>
            </a:pPr>
            <a:r>
              <a:rPr lang="en-US" sz="2545" b="1" spc="-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 acceleration: </a:t>
            </a:r>
            <a:r>
              <a:rPr lang="en-US" sz="2545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Online shopping made flexible checkout options more visible and convenient.</a:t>
            </a:r>
          </a:p>
          <a:p>
            <a:pPr algn="l">
              <a:lnSpc>
                <a:spcPts val="1199"/>
              </a:lnSpc>
            </a:pPr>
            <a:endParaRPr lang="en-US" sz="2545" spc="-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9595" lvl="1" indent="-274797" algn="l">
              <a:lnSpc>
                <a:spcPts val="3054"/>
              </a:lnSpc>
              <a:buFont typeface="Arial"/>
              <a:buChar char="•"/>
            </a:pPr>
            <a:r>
              <a:rPr lang="en-US" sz="2545" b="1" spc="-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Credit card fatigue:</a:t>
            </a:r>
            <a:r>
              <a:rPr lang="en-US" sz="2545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BNPL feels more predictable than credit cards because payments are fixed, short-term, and often advertised as interest-free if paid on time.</a:t>
            </a:r>
          </a:p>
          <a:p>
            <a:pPr algn="l">
              <a:lnSpc>
                <a:spcPts val="1199"/>
              </a:lnSpc>
            </a:pPr>
            <a:endParaRPr lang="en-US" sz="2545" spc="-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9595" lvl="1" indent="-274797" algn="l">
              <a:lnSpc>
                <a:spcPts val="3054"/>
              </a:lnSpc>
              <a:buFont typeface="Arial"/>
              <a:buChar char="•"/>
            </a:pPr>
            <a:r>
              <a:rPr lang="en-US" sz="2545" b="1" spc="-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Generational shift: </a:t>
            </a:r>
            <a:r>
              <a:rPr lang="en-US" sz="2545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 Z and Millennials are more open to app-based installment payments.</a:t>
            </a:r>
          </a:p>
          <a:p>
            <a:pPr algn="l">
              <a:lnSpc>
                <a:spcPts val="1199"/>
              </a:lnSpc>
            </a:pPr>
            <a:endParaRPr lang="en-US" sz="2545" spc="-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9595" lvl="1" indent="-274797" algn="l">
              <a:lnSpc>
                <a:spcPts val="3054"/>
              </a:lnSpc>
              <a:buFont typeface="Arial"/>
              <a:buChar char="•"/>
            </a:pPr>
            <a:r>
              <a:rPr lang="en-US" sz="2545" b="1" spc="-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Affordability framing: </a:t>
            </a:r>
            <a:r>
              <a:rPr lang="en-US" sz="2545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Smaller payments reduce the psychological burden of the full purchase price.</a:t>
            </a:r>
          </a:p>
          <a:p>
            <a:pPr algn="l">
              <a:lnSpc>
                <a:spcPts val="1199"/>
              </a:lnSpc>
            </a:pPr>
            <a:endParaRPr lang="en-US" sz="2545" spc="-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49595" lvl="1" indent="-274797" algn="l">
              <a:lnSpc>
                <a:spcPts val="3054"/>
              </a:lnSpc>
              <a:buFont typeface="Arial"/>
              <a:buChar char="•"/>
            </a:pPr>
            <a:r>
              <a:rPr lang="en-US" sz="2545" b="1" spc="-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Merchant strategy: </a:t>
            </a:r>
            <a:r>
              <a:rPr lang="en-US" sz="2545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Retailers use BNPL to increase sales, conversion rates, and average order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65104" y="2515058"/>
            <a:ext cx="9817288" cy="7289336"/>
          </a:xfrm>
          <a:custGeom>
            <a:avLst/>
            <a:gdLst/>
            <a:ahLst/>
            <a:cxnLst/>
            <a:rect l="l" t="t" r="r" b="b"/>
            <a:pathLst>
              <a:path w="9817288" h="7289336">
                <a:moveTo>
                  <a:pt x="0" y="0"/>
                </a:moveTo>
                <a:lnTo>
                  <a:pt x="9817288" y="0"/>
                </a:lnTo>
                <a:lnTo>
                  <a:pt x="9817288" y="7289337"/>
                </a:lnTo>
                <a:lnTo>
                  <a:pt x="0" y="7289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852573" y="7407549"/>
            <a:ext cx="423926" cy="4239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Uses BNPL?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82392" y="2838928"/>
            <a:ext cx="7328382" cy="5988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689" lvl="1" indent="-336345" algn="l">
              <a:lnSpc>
                <a:spcPts val="3738"/>
              </a:lnSpc>
              <a:buFont typeface="Arial"/>
              <a:buChar char="•"/>
            </a:pP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usage is higher among younger consumers, especially ages </a:t>
            </a:r>
            <a:r>
              <a:rPr lang="en-US" sz="3115" b="1" spc="-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18–44</a:t>
            </a: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320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720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72689" lvl="1" indent="-336345" algn="l">
              <a:lnSpc>
                <a:spcPts val="3738"/>
              </a:lnSpc>
              <a:buFont typeface="Arial"/>
              <a:buChar char="•"/>
            </a:pP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Usage is stronger among </a:t>
            </a:r>
            <a:r>
              <a:rPr lang="en-US" sz="3115" b="1" spc="-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low- and middle-income groups</a:t>
            </a: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320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720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72689" lvl="1" indent="-336345" algn="l">
              <a:lnSpc>
                <a:spcPts val="3738"/>
              </a:lnSpc>
              <a:buFont typeface="Arial"/>
              <a:buChar char="•"/>
            </a:pP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appeals to consumers seeking </a:t>
            </a:r>
            <a:r>
              <a:rPr lang="en-US" sz="3115" b="1" spc="-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short-term payment flexibility</a:t>
            </a: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320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720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38"/>
              </a:lnSpc>
            </a:pP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BNPL users are diverse, but usage </a:t>
            </a:r>
          </a:p>
          <a:p>
            <a:pPr algn="l">
              <a:lnSpc>
                <a:spcPts val="3738"/>
              </a:lnSpc>
            </a:pPr>
            <a:r>
              <a:rPr lang="en-US" sz="3115" spc="-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varies by age, income, and race.</a:t>
            </a:r>
          </a:p>
          <a:p>
            <a:pPr algn="l">
              <a:lnSpc>
                <a:spcPts val="3858"/>
              </a:lnSpc>
            </a:pPr>
            <a:endParaRPr lang="en-US" sz="3115" spc="-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5104" y="9785345"/>
            <a:ext cx="8895070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Statista; Federal Reserve SHED 2024, p. 41.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339975"/>
            <a:ext cx="16230600" cy="691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-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General Benefits</a:t>
            </a:r>
          </a:p>
          <a:p>
            <a:pPr algn="l">
              <a:lnSpc>
                <a:spcPts val="1399"/>
              </a:lnSpc>
            </a:pPr>
            <a:endParaRPr lang="en-US" sz="2499" b="1" spc="-44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Ability to split purchases into smaller payments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Often interest-free when paid on time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 upfront payment burden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Quick approval at checkout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predictable short-term payments</a:t>
            </a:r>
          </a:p>
          <a:p>
            <a:pPr algn="l">
              <a:lnSpc>
                <a:spcPts val="3499"/>
              </a:lnSpc>
            </a:pPr>
            <a:endParaRPr lang="en-US" sz="2499" spc="-4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99"/>
              </a:lnSpc>
            </a:pPr>
            <a:r>
              <a:rPr lang="en-US" sz="2499" b="1" spc="-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Credit Score Considerations</a:t>
            </a:r>
          </a:p>
          <a:p>
            <a:pPr algn="l">
              <a:lnSpc>
                <a:spcPts val="1399"/>
              </a:lnSpc>
            </a:pPr>
            <a:endParaRPr lang="en-US" sz="2499" b="1" spc="-44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 Pay in 4 uses a soft credit check, which does not affect credit scores.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However, missed or late payments may lead to fees or further collection actions. Klarna says late fees may apply to missed Pay in 4 payments.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FICO introduced new credit scoring models that incorporate BNPL data, meaning BNPL repayment behavior may become more visible to lenders.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Responsible payments may help show positive behavior, but missed payments could create future credit risk.</a:t>
            </a:r>
          </a:p>
        </p:txBody>
      </p:sp>
      <p:sp>
        <p:nvSpPr>
          <p:cNvPr id="4" name="Freeform 4"/>
          <p:cNvSpPr/>
          <p:nvPr/>
        </p:nvSpPr>
        <p:spPr>
          <a:xfrm>
            <a:off x="12897222" y="2230068"/>
            <a:ext cx="4776671" cy="4776671"/>
          </a:xfrm>
          <a:custGeom>
            <a:avLst/>
            <a:gdLst/>
            <a:ahLst/>
            <a:cxnLst/>
            <a:rect l="l" t="t" r="r" b="b"/>
            <a:pathLst>
              <a:path w="4776671" h="4776671">
                <a:moveTo>
                  <a:pt x="0" y="0"/>
                </a:moveTo>
                <a:lnTo>
                  <a:pt x="4776671" y="0"/>
                </a:lnTo>
                <a:lnTo>
                  <a:pt x="4776671" y="4776671"/>
                </a:lnTo>
                <a:lnTo>
                  <a:pt x="0" y="4776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Consumer Benefits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31874" y="2998821"/>
            <a:ext cx="15624253" cy="6259479"/>
          </a:xfrm>
          <a:custGeom>
            <a:avLst/>
            <a:gdLst/>
            <a:ahLst/>
            <a:cxnLst/>
            <a:rect l="l" t="t" r="r" b="b"/>
            <a:pathLst>
              <a:path w="15624253" h="6259479">
                <a:moveTo>
                  <a:pt x="0" y="0"/>
                </a:moveTo>
                <a:lnTo>
                  <a:pt x="15624252" y="0"/>
                </a:lnTo>
                <a:lnTo>
                  <a:pt x="15624252" y="6259479"/>
                </a:lnTo>
                <a:lnTo>
                  <a:pt x="0" y="6259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7" t="-28917" r="-3650" b="-221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Hidden Financial Risks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1874" y="2079625"/>
            <a:ext cx="8526960" cy="51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3215" spc="-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 payments can make debt less visible.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778998" y="3421935"/>
            <a:ext cx="6810999" cy="5108249"/>
          </a:xfrm>
          <a:custGeom>
            <a:avLst/>
            <a:gdLst/>
            <a:ahLst/>
            <a:cxnLst/>
            <a:rect l="l" t="t" r="r" b="b"/>
            <a:pathLst>
              <a:path w="6810999" h="5108249">
                <a:moveTo>
                  <a:pt x="0" y="0"/>
                </a:moveTo>
                <a:lnTo>
                  <a:pt x="6810999" y="0"/>
                </a:lnTo>
                <a:lnTo>
                  <a:pt x="6810999" y="5108250"/>
                </a:lnTo>
                <a:lnTo>
                  <a:pt x="0" y="510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Psychological Effects of BNPL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23088"/>
            <a:ext cx="9476775" cy="748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090" lvl="1" indent="-230545" algn="l">
              <a:lnSpc>
                <a:spcPts val="2562"/>
              </a:lnSpc>
              <a:buFont typeface="Arial"/>
              <a:buChar char="•"/>
            </a:pPr>
            <a:r>
              <a:rPr lang="en-US" sz="2135" b="1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Reduced pain of paying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A $100 purchase feels like “only $25 today,” making the cost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feel less serious.</a:t>
            </a:r>
          </a:p>
          <a:p>
            <a:pPr algn="l">
              <a:lnSpc>
                <a:spcPts val="1025"/>
              </a:lnSpc>
            </a:pPr>
            <a:endParaRPr lang="en-US" sz="2135" spc="-5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1090" lvl="1" indent="-230545" algn="l">
              <a:lnSpc>
                <a:spcPts val="2562"/>
              </a:lnSpc>
              <a:buFont typeface="Arial"/>
              <a:buChar char="•"/>
            </a:pPr>
            <a:r>
              <a:rPr lang="en-US" sz="2135" b="1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Mental accounting effect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Consumers may treat each installment as a separate small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expense rather than one full purchase, making the total cost feel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less important.</a:t>
            </a:r>
          </a:p>
          <a:p>
            <a:pPr algn="l">
              <a:lnSpc>
                <a:spcPts val="1025"/>
              </a:lnSpc>
            </a:pPr>
            <a:endParaRPr lang="en-US" sz="2135" spc="-5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1090" lvl="1" indent="-230545" algn="l">
              <a:lnSpc>
                <a:spcPts val="2562"/>
              </a:lnSpc>
              <a:buFont typeface="Arial"/>
              <a:buChar char="•"/>
            </a:pPr>
            <a:r>
              <a:rPr lang="en-US" sz="2135" b="1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on installment, not total cost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Consumers may focus on the small payment amount rather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than the full purchase price.</a:t>
            </a:r>
          </a:p>
          <a:p>
            <a:pPr algn="l">
              <a:lnSpc>
                <a:spcPts val="1025"/>
              </a:lnSpc>
            </a:pPr>
            <a:endParaRPr lang="en-US" sz="2135" spc="-5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1090" lvl="1" indent="-230545" algn="l">
              <a:lnSpc>
                <a:spcPts val="2562"/>
              </a:lnSpc>
              <a:buFont typeface="Arial"/>
              <a:buChar char="•"/>
            </a:pPr>
            <a:r>
              <a:rPr lang="en-US" sz="2135" b="1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Impulse buying becomes easier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BNPL removes the immediate barrier of paying in full at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checkout.</a:t>
            </a:r>
          </a:p>
          <a:p>
            <a:pPr algn="l">
              <a:lnSpc>
                <a:spcPts val="1025"/>
              </a:lnSpc>
            </a:pPr>
            <a:endParaRPr lang="en-US" sz="2135" spc="-5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1090" lvl="1" indent="-230545" algn="l">
              <a:lnSpc>
                <a:spcPts val="2562"/>
              </a:lnSpc>
              <a:buFont typeface="Arial"/>
              <a:buChar char="•"/>
            </a:pPr>
            <a:r>
              <a:rPr lang="en-US" sz="2135" b="1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Debt feels less visible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Multiple payment plans can feel separate and harmless, even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when they create a larger total burden.</a:t>
            </a:r>
          </a:p>
          <a:p>
            <a:pPr algn="l">
              <a:lnSpc>
                <a:spcPts val="1025"/>
              </a:lnSpc>
            </a:pPr>
            <a:endParaRPr lang="en-US" sz="2135" spc="-5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1090" lvl="1" indent="-230545" algn="l">
              <a:lnSpc>
                <a:spcPts val="2562"/>
              </a:lnSpc>
              <a:buFont typeface="Arial"/>
              <a:buChar char="•"/>
            </a:pPr>
            <a:r>
              <a:rPr lang="en-US" sz="2135" b="1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Credit risk is delayed or hidden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Unlike credit cards, BNPL repayment history may not always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help credit scores, while missed payments can still lead to fees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or financial stress. The Federal Reserve found that 24% of BNPL </a:t>
            </a:r>
          </a:p>
          <a:p>
            <a:pPr algn="l">
              <a:lnSpc>
                <a:spcPts val="2562"/>
              </a:lnSpc>
            </a:pPr>
            <a:r>
              <a:rPr lang="en-US" sz="2135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users were late on a payment in 2024.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1478" y="9690932"/>
            <a:ext cx="8895070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Thaler, 1985 — Mental Accounting and Consumer Choice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07181" y="4886858"/>
            <a:ext cx="7663590" cy="4930889"/>
          </a:xfrm>
          <a:custGeom>
            <a:avLst/>
            <a:gdLst/>
            <a:ahLst/>
            <a:cxnLst/>
            <a:rect l="l" t="t" r="r" b="b"/>
            <a:pathLst>
              <a:path w="7663590" h="4930889">
                <a:moveTo>
                  <a:pt x="0" y="0"/>
                </a:moveTo>
                <a:lnTo>
                  <a:pt x="7663591" y="0"/>
                </a:lnTo>
                <a:lnTo>
                  <a:pt x="7663591" y="4930889"/>
                </a:lnTo>
                <a:lnTo>
                  <a:pt x="0" y="493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32" b="-118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BNPL in Everyday Spending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0809" y="2133549"/>
            <a:ext cx="17221558" cy="265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509"/>
              </a:lnSpc>
              <a:buFont typeface="Arial"/>
              <a:buChar char="•"/>
            </a:pPr>
            <a:r>
              <a:rPr lang="en-US" sz="26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is moving beyond big-ticket retail purchases into </a:t>
            </a:r>
            <a:r>
              <a:rPr lang="en-US" sz="2699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everyday necessities.</a:t>
            </a:r>
          </a:p>
          <a:p>
            <a:pPr marL="582928" lvl="1" indent="-291464" algn="l">
              <a:lnSpc>
                <a:spcPts val="3509"/>
              </a:lnSpc>
              <a:buFont typeface="Arial"/>
              <a:buChar char="•"/>
            </a:pPr>
            <a:r>
              <a:rPr lang="en-US" sz="26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Spending on BNPL for </a:t>
            </a:r>
            <a:r>
              <a:rPr lang="en-US" sz="2699" u="sng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gas, groceries, and utilities</a:t>
            </a:r>
            <a:r>
              <a:rPr lang="en-US" sz="26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rose from $3.3M in 2019 to $229.2M in 2021.</a:t>
            </a:r>
          </a:p>
          <a:p>
            <a:pPr marL="582928" lvl="1" indent="-291464" algn="l">
              <a:lnSpc>
                <a:spcPts val="3509"/>
              </a:lnSpc>
              <a:buFont typeface="Arial"/>
              <a:buChar char="•"/>
            </a:pPr>
            <a:r>
              <a:rPr lang="en-US" sz="26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a recent survey, 29% of BNPL users used it for groceries, up from 14% two years ago; among Gen Z users, the number rises to 38%</a:t>
            </a:r>
          </a:p>
          <a:p>
            <a:pPr marL="582928" lvl="1" indent="-291464" algn="l">
              <a:lnSpc>
                <a:spcPts val="3509"/>
              </a:lnSpc>
              <a:buFont typeface="Arial"/>
              <a:buChar char="•"/>
            </a:pPr>
            <a:r>
              <a:rPr lang="en-US" sz="26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small payments can scatter across the calendar, making total debt harder to track.</a:t>
            </a:r>
          </a:p>
          <a:p>
            <a:pPr marL="582928" lvl="1" indent="-291464" algn="l">
              <a:lnSpc>
                <a:spcPts val="3509"/>
              </a:lnSpc>
              <a:buFont typeface="Arial"/>
              <a:buChar char="•"/>
            </a:pPr>
            <a:r>
              <a:rPr lang="en-US" sz="26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makes BNPL feel less like borrowing and more like a normal way to shop.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9503" y="9903472"/>
            <a:ext cx="6428995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LendingTree, “BNPL Tracker: 47% of Users Late in Past Year,” Apr. 13,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90625"/>
            <a:ext cx="12998908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Merchants Use Klarna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473274"/>
            <a:ext cx="16230600" cy="641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</a:pPr>
            <a:r>
              <a:rPr lang="en-US" sz="2928" spc="-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928" b="1" spc="-7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Klarna as a Sales Tool</a:t>
            </a:r>
          </a:p>
          <a:p>
            <a:pPr algn="l">
              <a:lnSpc>
                <a:spcPts val="959"/>
              </a:lnSpc>
            </a:pPr>
            <a:endParaRPr lang="en-US" sz="2928" b="1" spc="-73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79"/>
              </a:lnSpc>
            </a:pPr>
            <a:endParaRPr lang="en-US" sz="2928" b="1" spc="-73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01507" lvl="1" indent="-250754" algn="l">
              <a:lnSpc>
                <a:spcPts val="2787"/>
              </a:lnSpc>
              <a:buFont typeface="Arial"/>
              <a:buChar char="•"/>
            </a:pPr>
            <a:r>
              <a:rPr lang="en-US" sz="2322" b="1" spc="-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+20–30% Conversion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BNPL reduces checkout hesitation and helps customers complete purchases instead of abandoning carts. RBC 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Capital Markets estimates BNPL can raise retail conversion rates by 20–30%. </a:t>
            </a:r>
          </a:p>
          <a:p>
            <a:pPr algn="l">
              <a:lnSpc>
                <a:spcPts val="1211"/>
              </a:lnSpc>
            </a:pPr>
            <a:endParaRPr lang="en-US" sz="2322" spc="-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01507" lvl="1" indent="-250754" algn="l">
              <a:lnSpc>
                <a:spcPts val="2787"/>
              </a:lnSpc>
              <a:buFont typeface="Arial"/>
              <a:buChar char="•"/>
            </a:pPr>
            <a:r>
              <a:rPr lang="en-US" sz="2322" b="1" spc="-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~25% Higher AOV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Klarna’s on-site messaging shows smaller installment amounts near the product price or cart total, which can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increase perceived spending power and raise average order value by about 25%. </a:t>
            </a:r>
          </a:p>
          <a:p>
            <a:pPr algn="l">
              <a:lnSpc>
                <a:spcPts val="1211"/>
              </a:lnSpc>
            </a:pPr>
            <a:endParaRPr lang="en-US" sz="2322" spc="-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01507" lvl="1" indent="-250754" algn="l">
              <a:lnSpc>
                <a:spcPts val="2787"/>
              </a:lnSpc>
              <a:buFont typeface="Arial"/>
              <a:buChar char="•"/>
            </a:pPr>
            <a:r>
              <a:rPr lang="en-US" sz="2322" b="1" spc="-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Younger Customer Acquisition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Macy’s reported that 40% of Klarna shoppers were new to Macy’s, and 45% were under 40, showing how BNPL 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can attract younger shoppers. </a:t>
            </a:r>
          </a:p>
          <a:p>
            <a:pPr algn="l">
              <a:lnSpc>
                <a:spcPts val="1211"/>
              </a:lnSpc>
            </a:pPr>
            <a:endParaRPr lang="en-US" sz="2322" spc="-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01507" lvl="1" indent="-250754" algn="l">
              <a:lnSpc>
                <a:spcPts val="2787"/>
              </a:lnSpc>
              <a:buFont typeface="Arial"/>
              <a:buChar char="•"/>
            </a:pPr>
            <a:r>
              <a:rPr lang="en-US" sz="2322" b="1" spc="-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Upfront Payment, Lower Credit Risk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Merchants get paid upfront, while Klarna manages customer repayment and assumes credit/fraud risk. </a:t>
            </a:r>
          </a:p>
          <a:p>
            <a:pPr algn="l">
              <a:lnSpc>
                <a:spcPts val="1211"/>
              </a:lnSpc>
            </a:pPr>
            <a:endParaRPr lang="en-US" sz="2322" spc="-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01507" lvl="1" indent="-250754" algn="l">
              <a:lnSpc>
                <a:spcPts val="2787"/>
              </a:lnSpc>
              <a:buFont typeface="Arial"/>
              <a:buChar char="•"/>
            </a:pPr>
            <a:r>
              <a:rPr lang="en-US" sz="2322" b="1" spc="-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Scale Advantage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Klarna surpassed 1 million merchants globally in 2026, including brands such as Uber, H&amp;M, Sephora, Macy’s, </a:t>
            </a:r>
          </a:p>
          <a:p>
            <a:pPr algn="l">
              <a:lnSpc>
                <a:spcPts val="2787"/>
              </a:lnSpc>
            </a:pPr>
            <a:r>
              <a:rPr lang="en-US" sz="2322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Nike, and Airbnb.</a:t>
            </a:r>
          </a:p>
          <a:p>
            <a:pPr algn="l">
              <a:lnSpc>
                <a:spcPts val="2787"/>
              </a:lnSpc>
            </a:pPr>
            <a:endParaRPr lang="en-US" sz="2322" spc="-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36365" y="2210721"/>
            <a:ext cx="11530446" cy="7393898"/>
          </a:xfrm>
          <a:custGeom>
            <a:avLst/>
            <a:gdLst/>
            <a:ahLst/>
            <a:cxnLst/>
            <a:rect l="l" t="t" r="r" b="b"/>
            <a:pathLst>
              <a:path w="11530446" h="7393898">
                <a:moveTo>
                  <a:pt x="0" y="0"/>
                </a:moveTo>
                <a:lnTo>
                  <a:pt x="11530446" y="0"/>
                </a:lnTo>
                <a:lnTo>
                  <a:pt x="11530446" y="7393898"/>
                </a:lnTo>
                <a:lnTo>
                  <a:pt x="0" y="7393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62050"/>
            <a:ext cx="17085547" cy="69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5"/>
              </a:lnSpc>
            </a:pPr>
            <a:r>
              <a:rPr lang="en-US" sz="5500" spc="-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Apple Pay Case Study: Klarna Inside Checkout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6365" y="9585569"/>
            <a:ext cx="8895070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Klarna Apple Storefront, iPhone 17 Pro Max product page.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77847" y="3135721"/>
            <a:ext cx="5736399" cy="5884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7"/>
              </a:lnSpc>
            </a:pPr>
            <a:r>
              <a:rPr lang="en-US" sz="2339" b="1" spc="-5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Klarna as More Than a Payment Option</a:t>
            </a:r>
          </a:p>
          <a:p>
            <a:pPr algn="l">
              <a:lnSpc>
                <a:spcPts val="1122"/>
              </a:lnSpc>
            </a:pPr>
            <a:endParaRPr lang="en-US" sz="2339" b="1" spc="-58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45450" lvl="1" indent="-272725" algn="l">
              <a:lnSpc>
                <a:spcPts val="3031"/>
              </a:lnSpc>
              <a:buFont typeface="Arial"/>
              <a:buChar char="•"/>
            </a:pPr>
            <a:r>
              <a:rPr lang="en-US" sz="252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 shows Apple products directly on its own shopping platform.</a:t>
            </a:r>
          </a:p>
          <a:p>
            <a:pPr marL="545450" lvl="1" indent="-272725" algn="l">
              <a:lnSpc>
                <a:spcPts val="3031"/>
              </a:lnSpc>
              <a:buFont typeface="Arial"/>
              <a:buChar char="•"/>
            </a:pPr>
            <a:r>
              <a:rPr lang="en-US" sz="252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$1,199 iPhone is presented as 4 interest-free payments of $299.75.</a:t>
            </a:r>
          </a:p>
          <a:p>
            <a:pPr marL="545450" lvl="1" indent="-272725" algn="l">
              <a:lnSpc>
                <a:spcPts val="3031"/>
              </a:lnSpc>
              <a:buFont typeface="Arial"/>
              <a:buChar char="•"/>
            </a:pPr>
            <a:r>
              <a:rPr lang="en-US" sz="252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product is not cheaper, but the smaller payment amount makes it feel more affordable.</a:t>
            </a:r>
          </a:p>
          <a:p>
            <a:pPr algn="l">
              <a:lnSpc>
                <a:spcPts val="3031"/>
              </a:lnSpc>
            </a:pPr>
            <a:endParaRPr lang="en-US" sz="2526" spc="-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31"/>
              </a:lnSpc>
            </a:pPr>
            <a:r>
              <a:rPr lang="en-US" sz="252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Klarna does not just process the </a:t>
            </a:r>
          </a:p>
          <a:p>
            <a:pPr algn="l">
              <a:lnSpc>
                <a:spcPts val="3031"/>
              </a:lnSpc>
            </a:pPr>
            <a:r>
              <a:rPr lang="en-US" sz="252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payment; it also shapes how the </a:t>
            </a:r>
          </a:p>
          <a:p>
            <a:pPr algn="l">
              <a:lnSpc>
                <a:spcPts val="3031"/>
              </a:lnSpc>
            </a:pPr>
            <a:r>
              <a:rPr lang="en-US" sz="2526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price is presented to shoppers.</a:t>
            </a:r>
          </a:p>
          <a:p>
            <a:pPr algn="l">
              <a:lnSpc>
                <a:spcPts val="3031"/>
              </a:lnSpc>
            </a:pPr>
            <a:endParaRPr lang="en-US" sz="2526" spc="-6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387372" y="7458307"/>
            <a:ext cx="423926" cy="42392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51776" y="1860550"/>
            <a:ext cx="3950871" cy="7926849"/>
          </a:xfrm>
          <a:custGeom>
            <a:avLst/>
            <a:gdLst/>
            <a:ahLst/>
            <a:cxnLst/>
            <a:rect l="l" t="t" r="r" b="b"/>
            <a:pathLst>
              <a:path w="3950871" h="7926849">
                <a:moveTo>
                  <a:pt x="0" y="0"/>
                </a:moveTo>
                <a:lnTo>
                  <a:pt x="3950870" y="0"/>
                </a:lnTo>
                <a:lnTo>
                  <a:pt x="3950870" y="7926849"/>
                </a:lnTo>
                <a:lnTo>
                  <a:pt x="0" y="7926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333" t="-6361" r="-32333" b="-84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62050"/>
            <a:ext cx="16075630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5499" spc="-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Apple Product Case Study: Pay-in-4 Framing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777874"/>
            <a:ext cx="6053212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lang="en-US" sz="1299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Source: Apple Newsroom, “Apple celebrates 10 years of Apple Pay” (2024).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26360" y="2923612"/>
            <a:ext cx="11913626" cy="578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Framing Effect at Checkout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Full price: $300 → Klarna framing: “$75 every 2 weeks”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The same purchase feels smaller when it is broken into installments.</a:t>
            </a:r>
          </a:p>
          <a:p>
            <a:pPr algn="l">
              <a:lnSpc>
                <a:spcPts val="1199"/>
              </a:lnSpc>
            </a:pPr>
            <a:endParaRPr lang="en-US" sz="2700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Seamless Exposure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Klarna appears directly inside Apple Pay’s checkout flow, so 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consumers can see BNPL without leaving the payment screen.</a:t>
            </a:r>
          </a:p>
          <a:p>
            <a:pPr algn="l">
              <a:lnSpc>
                <a:spcPts val="1199"/>
              </a:lnSpc>
            </a:pPr>
            <a:endParaRPr lang="en-US" sz="2700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Visible at the Moment of Purchase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Apple Pay places installment options inside a familiar payment 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experience, making BNPL feel like a normal checkout choice.</a:t>
            </a:r>
          </a:p>
          <a:p>
            <a:pPr algn="l">
              <a:lnSpc>
                <a:spcPts val="1199"/>
              </a:lnSpc>
            </a:pPr>
            <a:endParaRPr lang="en-US" sz="2700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Mainstream Reach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Apple Pay is used by hundreds of millions of consumers across 78 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markets, showing that BNPL is moving into mainstream payment </a:t>
            </a: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infrastructure.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53161" y="2146300"/>
            <a:ext cx="15781678" cy="6938554"/>
          </a:xfrm>
          <a:custGeom>
            <a:avLst/>
            <a:gdLst/>
            <a:ahLst/>
            <a:cxnLst/>
            <a:rect l="l" t="t" r="r" b="b"/>
            <a:pathLst>
              <a:path w="15781678" h="6938554">
                <a:moveTo>
                  <a:pt x="0" y="0"/>
                </a:moveTo>
                <a:lnTo>
                  <a:pt x="15781678" y="0"/>
                </a:lnTo>
                <a:lnTo>
                  <a:pt x="15781678" y="6938554"/>
                </a:lnTo>
                <a:lnTo>
                  <a:pt x="0" y="6938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970" b="-139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90625"/>
            <a:ext cx="16526216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Does BNPL Really Serve?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422056"/>
            <a:ext cx="10938686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01544" y="4228007"/>
            <a:ext cx="12884911" cy="204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5699" b="1" spc="-1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BNPL is not just a payment method.</a:t>
            </a:r>
          </a:p>
          <a:p>
            <a:pPr algn="ctr">
              <a:lnSpc>
                <a:spcPts val="7979"/>
              </a:lnSpc>
            </a:pPr>
            <a:r>
              <a:rPr lang="en-US" sz="5699" b="1" spc="-14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It is a spending design.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771587" y="4530505"/>
            <a:ext cx="8744826" cy="151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1"/>
              </a:lnSpc>
            </a:pPr>
            <a:r>
              <a:rPr lang="en-US" sz="11843" spc="-21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85731" y="4530505"/>
            <a:ext cx="4916538" cy="151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1"/>
              </a:lnSpc>
            </a:pPr>
            <a:r>
              <a:rPr lang="en-US" sz="11843" spc="-21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 &amp; 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90625"/>
            <a:ext cx="10938686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08200"/>
            <a:ext cx="16230600" cy="783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Apple. (2024, October). Apple celebrates 10 years of Apple Pay. Apple Newsroom.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www.apple.com/newsroom/2024/10/apple-celebrates-10-years-of-apple-pay/"/>
              </a:rPr>
              <a:t>https://www.apple.com/newsroom/2024/10/apple-celebrates-10-years-of-apple-pay/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2" tooltip="https://www.apple.com/newsroom/2024/10/apple-celebrates-10-years-of-apple-pay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Batdorf, E. (2025, December 19). Pros and cons of buy now, pay later. Experian.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 tooltip="https://www.experian.com/blogs/ask-experian/pros-cons-of-buy-now-pay-later/"/>
              </a:rPr>
              <a:t>https://www.experian.com/blogs/ask-experian/pros-cons-of-buy-now-pay-later/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3" tooltip="https://www.experian.com/blogs/ask-experian/pros-cons-of-buy-now-pay-later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Basil, A. K., &amp; Biswas, P. (2025, September 10). Klarna valued at nearly $20 billion as shares jump in NYSE debut. Reuters.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www.reuters.com/business/finance/klarna-valued-nearly-20-billion-shares-jump-nyse-debut-2025-09-10/"/>
              </a:rPr>
              <a:t>https://www.reuters.com/business/finance/klarna-valued-nearly-20-billion-shares-jump-nyse-debut-2025-09-10/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4" tooltip="https://www.reuters.com/business/finance/klarna-valued-nearly-20-billion-shares-jump-nyse-debut-2025-09-10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Wire. (2025, February 27). More consumers using buy now, pay later, J.D. Power finds.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5" tooltip="https://www.businesswire.com/news/home/20250227435262/en/More-Consumers-Using-Buy-Now-Pay-Later-J.D.-Power-Finds"/>
              </a:rPr>
              <a:t>https://www.businesswire.com/news/home/20250227435262/en/More-Consumers-Using-Buy-Now-Pay-Later-J.D.-Power-Finds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5" tooltip="https://www.businesswire.com/news/home/20250227435262/en/More-Consumers-Using-Buy-Now-Pay-Later-J.D.-Power-Finds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Consumer Financial Protection Bureau. (n.d.). What is a buy now, pay later (BNPL) loan? Retrieved May 10, 2026, from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www.consumerfinance.gov/ask-cfpb/what-is-a-buy-now-pay-later-bnpl-loan-en-2119/"/>
              </a:rPr>
              <a:t>https://www.consumerfinance.gov/ask-cfpb/what-is-a-buy-now-pay-later-bnpl-loan-en-2119/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6" tooltip="https://www.consumerfinance.gov/ask-cfpb/what-is-a-buy-now-pay-later-bnpl-loan-en-2119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Consumer Financial Protection Bureau. (2022, September). Buy now, pay later: Market trends and consumer impacts.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files.consumerfinance.gov/f/documents/cfpb_buy-now-pay-later-market-trends-consumer-impacts_report_2022-09.pdf"/>
              </a:rPr>
              <a:t>https://files.consumerfinance.gov/f/documents/cfpb_buy-now-pay-later-market-trends-consumer-impacts_report_2022-09.pdf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7" tooltip="https://files.consumerfinance.gov/f/documents/cfpb_buy-now-pay-later-market-trends-consumer-impacts_report_2022-09.pdf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Federal Reserve. (2025, May 28). Share of respondents who said they used buy now, pay later (BNPL) in the United States in 2024, by age, gender, income, and race [Graph]. In Statista. Retrieved May 10, 2026, from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8" tooltip="https://www.statista.com/statistics/1421852/bnpl-user-demographics-usa/"/>
              </a:rPr>
              <a:t>https://www.statista.com/statistics/1421852/bnpl-user-demographics-usa/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8" tooltip="https://www.statista.com/statistics/1421852/bnpl-user-demographics-usa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Federal Reserve Bank of Boston. (2024). Buy now, pay later: Who uses it and why.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www.bostonfed.org/publications/current-policy-perspectives/2024/buy-now-pay-later-who-uses-it-why.aspx"/>
              </a:rPr>
              <a:t>https://www.bostonfed.org/publications/current-policy-perspectives/2024/buy-now-pay-later-who-uses-it-why.aspx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9" tooltip="https://www.bostonfed.org/publications/current-policy-perspectives/2024/buy-now-pay-later-who-uses-it-why.aspx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Harvard Business Review. (2024, November). Research: How "buy now, pay later" is changing consumer spending.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0" tooltip="https://hbr.org/2024/11/research-how-buy-now-pay-later-is-changing-consumer-spending"/>
              </a:rPr>
              <a:t>https://hbr.org/2024/11/research-how-buy-now-pay-later-is-changing-consumer-spending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0" tooltip="https://hbr.org/2024/11/research-how-buy-now-pay-later-is-changing-consumer-spending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Hermann, J., &amp; Gupta, A. (2023, May 18). How Klarna grows: Building the shopping destination of the future. How They Grow.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1" tooltip="https://www.howtheygrow.co/p/how-klarna-grows-building-the-shopping"/>
              </a:rPr>
              <a:t>https://www.howtheygrow.co/p/how-klarna-grows-building-the-shopping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1" tooltip="https://www.howtheygrow.co/p/how-klarna-grows-building-the-shopping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Klarna. (n.d.-a). Klarna. Retrieved May 10, 2026, from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2" tooltip="https://www.klarna.com/us/"/>
              </a:rPr>
              <a:t>https://www.klarna.com/us/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2" tooltip="https://www.klarna.com/us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Klarna. (n.d.-b). iPhone 17 Pro Max. Klarna Store. Retrieved May 10, 2026, from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3" tooltip="https://store.klarna.com/us/applefromklarna/p/iphone-17-pro-max/cosmic-orange-256gb/"/>
              </a:rPr>
              <a:t>https://store.klarna.com/us/applefromklarna/p/iphone-17-pro-max/cosmic-orange-256gb/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3" tooltip="https://store.klarna.com/us/applefromklarna/p/iphone-17-pro-max/cosmic-orange-256gb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Klarna. (n.d.-c). Understand Klarna. Klarna Group plc. Retrieved May 10, 2026, from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4" tooltip="https://investors.klarna.com/understand-klarna/default.aspx"/>
              </a:rPr>
              <a:t>https://investors.klarna.com/understand-klarna/default.aspx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4" tooltip="https://investors.klarna.com/understand-klarna/default.aspx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 Group plc. (2025, March 14). Form F-1 registration statement. U.S. Securities and Exchange Commission.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5" tooltip="https://www.sec.gov/Archives/edgar/data/2003292/000162828025012824/klarnagroupplcf-1.htm"/>
              </a:rPr>
              <a:t>https://www.sec.gov/Archives/edgar/data/2003292/000162828025012824/klarnagroupplcf-1.htm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5" tooltip="https://www.sec.gov/Archives/edgar/data/2003292/000162828025012824/klarnagroupplcf-1.htm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LendingTree. (2026, April 13). Nearly half of BNPL users have paid late in the past year, up for a second straight year.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6" tooltip="https://www.lendingtree.com/personal/buy-now-pay-later-loan-statistics/"/>
              </a:rPr>
              <a:t>https://www.lendingtree.com/personal/buy-now-pay-later-loan-statistics/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6" tooltip="https://www.lendingtree.com/personal/buy-now-pay-later-loan-statistics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Shevlin, R. (2022, April 10). Breakout: Apple's plan to pump up Apple Card and Apple Pay and win the payments war. Forbes.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7" tooltip="https://www.forbes.com/sites/ronshevlin/2022/04/10/breakout-apples-plan-to-pump-up-apple-card-and-apple-pay-and-win-the-payments-war/"/>
              </a:rPr>
              <a:t>https://www.forbes.com/sites/ronshevlin/2022/04/10/breakout-apples-plan-to-pump-up-apple-card-and-apple-pay-and-win-the-payments-war/</a:t>
            </a:r>
          </a:p>
          <a:p>
            <a:pPr algn="l">
              <a:lnSpc>
                <a:spcPts val="1400"/>
              </a:lnSpc>
            </a:pPr>
            <a:endParaRPr lang="en-US" sz="1474" u="sng" spc="-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  <a:hlinkClick r:id="rId17" tooltip="https://www.forbes.com/sites/ronshevlin/2022/04/10/breakout-apples-plan-to-pump-up-apple-card-and-apple-pay-and-win-the-payments-war/"/>
            </a:endParaRPr>
          </a:p>
          <a:p>
            <a:pPr algn="l">
              <a:lnSpc>
                <a:spcPts val="1400"/>
              </a:lnSpc>
            </a:pPr>
            <a:r>
              <a:rPr lang="en-US" sz="1474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Statista &amp; Worldpay. (2026, March 27). Global transaction value of buy now, pay later (BNPL) in e-commerce from 2014 to 2025, with a forecast for 2030 (in billion U.S. dollars) [Graph]. In Statista. Retrieved May 10, 2026, from </a:t>
            </a:r>
            <a:r>
              <a:rPr lang="en-US" sz="1474" u="sng" spc="-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8" tooltip="https://www.statista.com/statistics/1311122/global-bnpl-market-value-forecast/"/>
              </a:rPr>
              <a:t>https://www.statista.com/statistics/1311122/global-bnpl-market-value-forecast/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B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5557" y="8826989"/>
            <a:ext cx="3002443" cy="1460011"/>
          </a:xfrm>
          <a:custGeom>
            <a:avLst/>
            <a:gdLst/>
            <a:ahLst/>
            <a:cxnLst/>
            <a:rect l="l" t="t" r="r" b="b"/>
            <a:pathLst>
              <a:path w="3002443" h="1460011">
                <a:moveTo>
                  <a:pt x="0" y="0"/>
                </a:moveTo>
                <a:lnTo>
                  <a:pt x="3002443" y="0"/>
                </a:lnTo>
                <a:lnTo>
                  <a:pt x="3002443" y="1460011"/>
                </a:lnTo>
                <a:lnTo>
                  <a:pt x="0" y="1460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90625"/>
            <a:ext cx="16526216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9"/>
              </a:lnSpc>
            </a:pPr>
            <a:r>
              <a:rPr lang="en-US" sz="6999" spc="-12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Does BNPL Really Serve?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422739"/>
            <a:ext cx="16373135" cy="727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Consumer Benefit: Partially True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offers short-term flexibility and often interest-free payments.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 41% of BNPL users reported a late payment in 2025.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BNPL data enters new credit scoring models, missed payments may become harder to ignore.</a:t>
            </a:r>
          </a:p>
          <a:p>
            <a:pPr algn="l">
              <a:lnSpc>
                <a:spcPts val="1199"/>
              </a:lnSpc>
            </a:pPr>
            <a:endParaRPr lang="en-US" sz="2700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0"/>
              </a:lnSpc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Merchant Benefit: Structurally Stronger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Merchants gain higher conversion, larger basket size, and upfront payment.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Klarna says merchants are paid upfront while Klarna manages credit and fraud risk.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business model works best when BNPL encourages more completed purchases.</a:t>
            </a:r>
          </a:p>
          <a:p>
            <a:pPr algn="l">
              <a:lnSpc>
                <a:spcPts val="1199"/>
              </a:lnSpc>
            </a:pPr>
            <a:endParaRPr lang="en-US" sz="2700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0"/>
              </a:lnSpc>
            </a:pPr>
            <a:r>
              <a:rPr lang="en-US" sz="2700" b="1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Behavioral Reality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Pay-in-4 makes the price feel smaller at checkout.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loans can stack up quietly. CFPB found 63% of BNPL borrowers had simultaneous loans.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is marketed as flexibility, but its design also encourages spending.</a:t>
            </a:r>
          </a:p>
          <a:p>
            <a:pPr algn="l">
              <a:lnSpc>
                <a:spcPts val="3240"/>
              </a:lnSpc>
            </a:pPr>
            <a:endParaRPr lang="en-US" sz="2700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40"/>
              </a:lnSpc>
            </a:pPr>
            <a:r>
              <a:rPr lang="en-US" sz="2700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BNPL helps consumers manage payments, but </a:t>
            </a:r>
            <a:r>
              <a:rPr lang="en-US" sz="2700" u="sng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serves </a:t>
            </a:r>
            <a:r>
              <a:rPr lang="en-US" sz="2700" b="1" u="sng" spc="-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merchants</a:t>
            </a:r>
            <a:r>
              <a:rPr lang="en-US" sz="2700" u="sng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more directly by reducing checkout hesitation and increasing spending.</a:t>
            </a:r>
          </a:p>
          <a:p>
            <a:pPr algn="l">
              <a:lnSpc>
                <a:spcPts val="3240"/>
              </a:lnSpc>
            </a:pPr>
            <a:endParaRPr lang="en-US" sz="2700" u="sng" spc="-6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2260</Words>
  <Application>Microsoft Office PowerPoint</Application>
  <PresentationFormat>Custom</PresentationFormat>
  <Paragraphs>235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League Spartan</vt:lpstr>
      <vt:lpstr>Poppins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Grey Minimalist Aesthetic Project Proposal Presentation의 사본</dc:title>
  <cp:lastModifiedBy>GYUHYOUN.KIM</cp:lastModifiedBy>
  <cp:revision>3</cp:revision>
  <dcterms:created xsi:type="dcterms:W3CDTF">2006-08-16T00:00:00Z</dcterms:created>
  <dcterms:modified xsi:type="dcterms:W3CDTF">2026-05-13T20:48:27Z</dcterms:modified>
  <dc:identifier>DAHJIAFZ4J0</dc:identifier>
</cp:coreProperties>
</file>