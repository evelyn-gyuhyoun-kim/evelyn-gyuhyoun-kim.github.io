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IBM Plex Sans"/>
      <p:regular r:id="rId30"/>
      <p:bold r:id="rId31"/>
      <p:italic r:id="rId32"/>
      <p:boldItalic r:id="rId33"/>
    </p:embeddedFont>
    <p:embeddedFont>
      <p:font typeface="IBM Plex Sans Light"/>
      <p:regular r:id="rId34"/>
      <p:bold r:id="rId35"/>
      <p:italic r:id="rId36"/>
      <p:boldItalic r:id="rId37"/>
    </p:embeddedFont>
    <p:embeddedFont>
      <p:font typeface="Lobster"/>
      <p:regular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Roboto Serif ExtraBold"/>
      <p:bold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  <p:embeddedFont>
      <p:font typeface="Lora"/>
      <p:regular r:id="rId49"/>
      <p:bold r:id="rId50"/>
      <p:italic r:id="rId51"/>
      <p:boldItalic r:id="rId52"/>
    </p:embeddedFont>
    <p:embeddedFont>
      <p:font typeface="IBM Plex Sans Medium"/>
      <p:regular r:id="rId53"/>
      <p:bold r:id="rId54"/>
      <p:italic r:id="rId55"/>
      <p:boldItalic r:id="rId56"/>
    </p:embeddedFont>
    <p:embeddedFont>
      <p:font typeface="Outfit Medium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44" Type="http://schemas.openxmlformats.org/officeDocument/2006/relationships/font" Target="fonts/RobotoSerifExtraBold-boldItalic.fntdata"/><Relationship Id="rId43" Type="http://schemas.openxmlformats.org/officeDocument/2006/relationships/font" Target="fonts/RobotoSerifExtraBold-bold.fntdata"/><Relationship Id="rId46" Type="http://schemas.openxmlformats.org/officeDocument/2006/relationships/font" Target="fonts/MontserratMedium-bold.fntdata"/><Relationship Id="rId45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ontserratMedium-boldItalic.fntdata"/><Relationship Id="rId47" Type="http://schemas.openxmlformats.org/officeDocument/2006/relationships/font" Target="fonts/MontserratMedium-italic.fntdata"/><Relationship Id="rId49" Type="http://schemas.openxmlformats.org/officeDocument/2006/relationships/font" Target="fonts/Lor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Sans-bold.fntdata"/><Relationship Id="rId30" Type="http://schemas.openxmlformats.org/officeDocument/2006/relationships/font" Target="fonts/IBMPlexSans-regular.fntdata"/><Relationship Id="rId33" Type="http://schemas.openxmlformats.org/officeDocument/2006/relationships/font" Target="fonts/IBMPlexSans-boldItalic.fntdata"/><Relationship Id="rId32" Type="http://schemas.openxmlformats.org/officeDocument/2006/relationships/font" Target="fonts/IBMPlexSans-italic.fntdata"/><Relationship Id="rId35" Type="http://schemas.openxmlformats.org/officeDocument/2006/relationships/font" Target="fonts/IBMPlexSansLight-bold.fntdata"/><Relationship Id="rId34" Type="http://schemas.openxmlformats.org/officeDocument/2006/relationships/font" Target="fonts/IBMPlexSansLight-regular.fntdata"/><Relationship Id="rId37" Type="http://schemas.openxmlformats.org/officeDocument/2006/relationships/font" Target="fonts/IBMPlexSansLight-boldItalic.fntdata"/><Relationship Id="rId36" Type="http://schemas.openxmlformats.org/officeDocument/2006/relationships/font" Target="fonts/IBMPlexSansLight-italic.fntdata"/><Relationship Id="rId39" Type="http://schemas.openxmlformats.org/officeDocument/2006/relationships/font" Target="fonts/Montserrat-regular.fntdata"/><Relationship Id="rId38" Type="http://schemas.openxmlformats.org/officeDocument/2006/relationships/font" Target="fonts/Lobster-regular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Lora-italic.fntdata"/><Relationship Id="rId50" Type="http://schemas.openxmlformats.org/officeDocument/2006/relationships/font" Target="fonts/Lora-bold.fntdata"/><Relationship Id="rId53" Type="http://schemas.openxmlformats.org/officeDocument/2006/relationships/font" Target="fonts/IBMPlexSansMedium-regular.fntdata"/><Relationship Id="rId52" Type="http://schemas.openxmlformats.org/officeDocument/2006/relationships/font" Target="fonts/Lora-boldItalic.fntdata"/><Relationship Id="rId11" Type="http://schemas.openxmlformats.org/officeDocument/2006/relationships/slide" Target="slides/slide7.xml"/><Relationship Id="rId55" Type="http://schemas.openxmlformats.org/officeDocument/2006/relationships/font" Target="fonts/IBMPlexSansMedium-italic.fntdata"/><Relationship Id="rId10" Type="http://schemas.openxmlformats.org/officeDocument/2006/relationships/slide" Target="slides/slide6.xml"/><Relationship Id="rId54" Type="http://schemas.openxmlformats.org/officeDocument/2006/relationships/font" Target="fonts/IBMPlexSansMedium-bold.fntdata"/><Relationship Id="rId13" Type="http://schemas.openxmlformats.org/officeDocument/2006/relationships/slide" Target="slides/slide9.xml"/><Relationship Id="rId57" Type="http://schemas.openxmlformats.org/officeDocument/2006/relationships/font" Target="fonts/OutfitMedium-regular.fntdata"/><Relationship Id="rId12" Type="http://schemas.openxmlformats.org/officeDocument/2006/relationships/slide" Target="slides/slide8.xml"/><Relationship Id="rId56" Type="http://schemas.openxmlformats.org/officeDocument/2006/relationships/font" Target="fonts/IBMPlexSansMedium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schemas.openxmlformats.org/officeDocument/2006/relationships/font" Target="fonts/OutfitMedium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132ba2498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132ba2498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32ba24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132ba249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32ba2498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132ba249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17ca0119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17ca0119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132ba2498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9132ba2498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132ba24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9132ba2498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132ba2498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9132ba2498_0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18" name="Google Shape;3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5:37</a:t>
            </a:r>
            <a:endParaRPr/>
          </a:p>
        </p:txBody>
      </p:sp>
      <p:sp>
        <p:nvSpPr>
          <p:cNvPr id="352" name="Google Shape;3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63" name="Google Shape;3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132ba2498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8:40</a:t>
            </a:r>
            <a:endParaRPr/>
          </a:p>
        </p:txBody>
      </p:sp>
      <p:sp>
        <p:nvSpPr>
          <p:cNvPr id="371" name="Google Shape;371;g39132ba2498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132ba2498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10:25</a:t>
            </a:r>
            <a:endParaRPr/>
          </a:p>
        </p:txBody>
      </p:sp>
      <p:sp>
        <p:nvSpPr>
          <p:cNvPr id="381" name="Google Shape;381;g39132ba2498_0_3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132ba249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11:10</a:t>
            </a:r>
            <a:endParaRPr/>
          </a:p>
        </p:txBody>
      </p:sp>
      <p:sp>
        <p:nvSpPr>
          <p:cNvPr id="390" name="Google Shape;390;g39132ba2498_0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132ba2498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12:</a:t>
            </a:r>
            <a:endParaRPr/>
          </a:p>
        </p:txBody>
      </p:sp>
      <p:sp>
        <p:nvSpPr>
          <p:cNvPr id="401" name="Google Shape;401;g39132ba2498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e63c91b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ae63c91b7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132ba2498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9132ba2498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132ba2498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9132ba2498_0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917ca0119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917ca0119d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nual Budget">
  <p:cSld name="CUSTOM_26">
    <p:bg>
      <p:bgPr>
        <a:solidFill>
          <a:schemeClr val="accen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chemeClr val="accent1"/>
                </a:solidFill>
              </a:defRPr>
            </a:lvl1pPr>
            <a:lvl2pPr lvl="1">
              <a:buNone/>
              <a:defRPr sz="1300">
                <a:solidFill>
                  <a:schemeClr val="accent1"/>
                </a:solidFill>
              </a:defRPr>
            </a:lvl2pPr>
            <a:lvl3pPr lvl="2">
              <a:buNone/>
              <a:defRPr sz="1300">
                <a:solidFill>
                  <a:schemeClr val="accent1"/>
                </a:solidFill>
              </a:defRPr>
            </a:lvl3pPr>
            <a:lvl4pPr lvl="3">
              <a:buNone/>
              <a:defRPr sz="1300">
                <a:solidFill>
                  <a:schemeClr val="accent1"/>
                </a:solidFill>
              </a:defRPr>
            </a:lvl4pPr>
            <a:lvl5pPr lvl="4">
              <a:buNone/>
              <a:defRPr sz="1300">
                <a:solidFill>
                  <a:schemeClr val="accent1"/>
                </a:solidFill>
              </a:defRPr>
            </a:lvl5pPr>
            <a:lvl6pPr lvl="5">
              <a:buNone/>
              <a:defRPr sz="1300">
                <a:solidFill>
                  <a:schemeClr val="accent1"/>
                </a:solidFill>
              </a:defRPr>
            </a:lvl6pPr>
            <a:lvl7pPr lvl="6">
              <a:buNone/>
              <a:defRPr sz="1300">
                <a:solidFill>
                  <a:schemeClr val="accent1"/>
                </a:solidFill>
              </a:defRPr>
            </a:lvl7pPr>
            <a:lvl8pPr lvl="7">
              <a:buNone/>
              <a:defRPr sz="1300">
                <a:solidFill>
                  <a:schemeClr val="accent1"/>
                </a:solidFill>
              </a:defRPr>
            </a:lvl8pPr>
            <a:lvl9pPr lvl="8">
              <a:buNone/>
              <a:defRPr sz="13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4"/>
          <p:cNvSpPr txBox="1"/>
          <p:nvPr>
            <p:ph type="title"/>
          </p:nvPr>
        </p:nvSpPr>
        <p:spPr>
          <a:xfrm>
            <a:off x="338667" y="360233"/>
            <a:ext cx="11393700" cy="1550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562033" y="4013200"/>
            <a:ext cx="27549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2" type="subTitle"/>
          </p:nvPr>
        </p:nvSpPr>
        <p:spPr>
          <a:xfrm>
            <a:off x="562033" y="5774267"/>
            <a:ext cx="27549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3" type="body"/>
          </p:nvPr>
        </p:nvSpPr>
        <p:spPr>
          <a:xfrm>
            <a:off x="577233" y="4699767"/>
            <a:ext cx="2724300" cy="11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1pPr>
            <a:lvl2pPr indent="-330200" lvl="1" marL="9144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2pPr>
            <a:lvl3pPr indent="-330200" lvl="2" marL="13716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3pPr>
            <a:lvl4pPr indent="-330200" lvl="3" marL="18288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4pPr>
            <a:lvl5pPr indent="-330200" lvl="4" marL="22860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5pPr>
            <a:lvl6pPr indent="-330200" lvl="5" marL="27432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6pPr>
            <a:lvl7pPr indent="-330200" lvl="6" marL="32004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7pPr>
            <a:lvl8pPr indent="-330200" lvl="7" marL="36576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8pPr>
            <a:lvl9pPr indent="-330200" lvl="8" marL="41148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4" type="subTitle"/>
          </p:nvPr>
        </p:nvSpPr>
        <p:spPr>
          <a:xfrm>
            <a:off x="3316833" y="4013200"/>
            <a:ext cx="27549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5" type="subTitle"/>
          </p:nvPr>
        </p:nvSpPr>
        <p:spPr>
          <a:xfrm>
            <a:off x="3316833" y="5774267"/>
            <a:ext cx="27549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6" type="body"/>
          </p:nvPr>
        </p:nvSpPr>
        <p:spPr>
          <a:xfrm>
            <a:off x="3332033" y="4699767"/>
            <a:ext cx="2724300" cy="11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1pPr>
            <a:lvl2pPr indent="-330200" lvl="1" marL="9144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2pPr>
            <a:lvl3pPr indent="-330200" lvl="2" marL="13716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3pPr>
            <a:lvl4pPr indent="-330200" lvl="3" marL="18288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4pPr>
            <a:lvl5pPr indent="-330200" lvl="4" marL="22860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5pPr>
            <a:lvl6pPr indent="-330200" lvl="5" marL="27432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6pPr>
            <a:lvl7pPr indent="-330200" lvl="6" marL="32004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7pPr>
            <a:lvl8pPr indent="-330200" lvl="7" marL="36576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8pPr>
            <a:lvl9pPr indent="-330200" lvl="8" marL="41148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7" type="subTitle"/>
          </p:nvPr>
        </p:nvSpPr>
        <p:spPr>
          <a:xfrm>
            <a:off x="6086833" y="4013200"/>
            <a:ext cx="27549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8" type="subTitle"/>
          </p:nvPr>
        </p:nvSpPr>
        <p:spPr>
          <a:xfrm>
            <a:off x="6086833" y="5774267"/>
            <a:ext cx="27549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4"/>
          <p:cNvSpPr txBox="1"/>
          <p:nvPr>
            <p:ph idx="9" type="body"/>
          </p:nvPr>
        </p:nvSpPr>
        <p:spPr>
          <a:xfrm>
            <a:off x="6102033" y="4699767"/>
            <a:ext cx="2724300" cy="11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1pPr>
            <a:lvl2pPr indent="-330200" lvl="1" marL="9144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2pPr>
            <a:lvl3pPr indent="-330200" lvl="2" marL="13716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3pPr>
            <a:lvl4pPr indent="-330200" lvl="3" marL="18288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4pPr>
            <a:lvl5pPr indent="-330200" lvl="4" marL="22860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5pPr>
            <a:lvl6pPr indent="-330200" lvl="5" marL="27432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6pPr>
            <a:lvl7pPr indent="-330200" lvl="6" marL="32004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7pPr>
            <a:lvl8pPr indent="-330200" lvl="7" marL="36576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8pPr>
            <a:lvl9pPr indent="-330200" lvl="8" marL="41148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3" type="subTitle"/>
          </p:nvPr>
        </p:nvSpPr>
        <p:spPr>
          <a:xfrm>
            <a:off x="8841633" y="4013200"/>
            <a:ext cx="27549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4" type="subTitle"/>
          </p:nvPr>
        </p:nvSpPr>
        <p:spPr>
          <a:xfrm>
            <a:off x="8841633" y="5774267"/>
            <a:ext cx="27549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15" type="body"/>
          </p:nvPr>
        </p:nvSpPr>
        <p:spPr>
          <a:xfrm>
            <a:off x="8856833" y="4699767"/>
            <a:ext cx="2724300" cy="117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1pPr>
            <a:lvl2pPr indent="-330200" lvl="1" marL="9144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2pPr>
            <a:lvl3pPr indent="-330200" lvl="2" marL="13716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3pPr>
            <a:lvl4pPr indent="-330200" lvl="3" marL="18288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4pPr>
            <a:lvl5pPr indent="-330200" lvl="4" marL="22860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5pPr>
            <a:lvl6pPr indent="-330200" lvl="5" marL="27432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6pPr>
            <a:lvl7pPr indent="-330200" lvl="6" marL="32004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7pPr>
            <a:lvl8pPr indent="-330200" lvl="7" marL="36576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8pPr>
            <a:lvl9pPr indent="-330200" lvl="8" marL="411480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BM Plex Sans"/>
              <a:buChar char="•"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6" type="subTitle"/>
          </p:nvPr>
        </p:nvSpPr>
        <p:spPr>
          <a:xfrm>
            <a:off x="546833" y="2368248"/>
            <a:ext cx="1941300" cy="102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7" type="subTitle"/>
          </p:nvPr>
        </p:nvSpPr>
        <p:spPr>
          <a:xfrm>
            <a:off x="3298667" y="2368248"/>
            <a:ext cx="1941300" cy="102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18" type="subTitle"/>
          </p:nvPr>
        </p:nvSpPr>
        <p:spPr>
          <a:xfrm>
            <a:off x="6079233" y="2368248"/>
            <a:ext cx="1941300" cy="102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9" type="subTitle"/>
          </p:nvPr>
        </p:nvSpPr>
        <p:spPr>
          <a:xfrm>
            <a:off x="8841633" y="2368248"/>
            <a:ext cx="1941300" cy="102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Light"/>
              <a:buNone/>
              <a:defRPr>
                <a:solidFill>
                  <a:schemeClr val="lt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14">
    <p:bg>
      <p:bgPr>
        <a:solidFill>
          <a:schemeClr val="accent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694267" y="3270198"/>
            <a:ext cx="1812000" cy="113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5"/>
          <p:cNvSpPr txBox="1"/>
          <p:nvPr>
            <p:ph idx="2" type="title"/>
          </p:nvPr>
        </p:nvSpPr>
        <p:spPr>
          <a:xfrm>
            <a:off x="2946400" y="2941433"/>
            <a:ext cx="1812000" cy="113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5"/>
          <p:cNvSpPr txBox="1"/>
          <p:nvPr>
            <p:ph idx="3" type="title"/>
          </p:nvPr>
        </p:nvSpPr>
        <p:spPr>
          <a:xfrm>
            <a:off x="5198533" y="3878233"/>
            <a:ext cx="1812000" cy="113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15"/>
          <p:cNvSpPr txBox="1"/>
          <p:nvPr>
            <p:ph idx="4" type="title"/>
          </p:nvPr>
        </p:nvSpPr>
        <p:spPr>
          <a:xfrm>
            <a:off x="7450667" y="2622533"/>
            <a:ext cx="1812000" cy="104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5"/>
          <p:cNvSpPr txBox="1"/>
          <p:nvPr>
            <p:ph idx="5" type="title"/>
          </p:nvPr>
        </p:nvSpPr>
        <p:spPr>
          <a:xfrm>
            <a:off x="9702800" y="1987333"/>
            <a:ext cx="1812000" cy="104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BM Plex Sans Light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6" type="title"/>
          </p:nvPr>
        </p:nvSpPr>
        <p:spPr>
          <a:xfrm>
            <a:off x="338667" y="360233"/>
            <a:ext cx="11393700" cy="1550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694267" y="5926600"/>
            <a:ext cx="1812000" cy="58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7" type="subTitle"/>
          </p:nvPr>
        </p:nvSpPr>
        <p:spPr>
          <a:xfrm>
            <a:off x="2946400" y="5926600"/>
            <a:ext cx="1812000" cy="58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8" type="subTitle"/>
          </p:nvPr>
        </p:nvSpPr>
        <p:spPr>
          <a:xfrm>
            <a:off x="5198533" y="5926600"/>
            <a:ext cx="1812000" cy="58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9" type="subTitle"/>
          </p:nvPr>
        </p:nvSpPr>
        <p:spPr>
          <a:xfrm>
            <a:off x="7450667" y="5926600"/>
            <a:ext cx="1812000" cy="58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3" type="subTitle"/>
          </p:nvPr>
        </p:nvSpPr>
        <p:spPr>
          <a:xfrm>
            <a:off x="9702800" y="5926600"/>
            <a:ext cx="1812000" cy="583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5.jpg"/><Relationship Id="rId5" Type="http://schemas.openxmlformats.org/officeDocument/2006/relationships/image" Target="../media/image7.jpg"/><Relationship Id="rId6" Type="http://schemas.openxmlformats.org/officeDocument/2006/relationships/image" Target="../media/image5.jpg"/><Relationship Id="rId7" Type="http://schemas.openxmlformats.org/officeDocument/2006/relationships/image" Target="../media/image14.jpg"/><Relationship Id="rId8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thewaltdisneycompany.com/about/" TargetMode="External"/><Relationship Id="rId4" Type="http://schemas.openxmlformats.org/officeDocument/2006/relationships/hyperlink" Target="https://help.disneyplus.com/article/disneyplus-price?redirect=false" TargetMode="External"/><Relationship Id="rId5" Type="http://schemas.openxmlformats.org/officeDocument/2006/relationships/hyperlink" Target="https://finance.yahoo.com/news/price-standoff-disney-losses-wins-132839068.html?fr=sycsrp_catchal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10298D"/>
          </a:solidFill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773600" y="4909625"/>
            <a:ext cx="8644800" cy="15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E2E8F0"/>
                </a:solidFill>
                <a:latin typeface="Lobster"/>
                <a:ea typeface="Lobster"/>
                <a:cs typeface="Lobster"/>
                <a:sym typeface="Lobster"/>
              </a:rPr>
              <a:t>Stream Vision Consulting  Group</a:t>
            </a:r>
            <a:endParaRPr sz="3100">
              <a:solidFill>
                <a:srgbClr val="E2E8F0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2E8F0"/>
                </a:solidFill>
                <a:latin typeface="Outfit Medium"/>
                <a:ea typeface="Outfit Medium"/>
                <a:cs typeface="Outfit Medium"/>
                <a:sym typeface="Outfit Medium"/>
              </a:rPr>
              <a:t>Disney vs Netflix: Reimagining Disney’s Future in the Streaming Era </a:t>
            </a:r>
            <a:endParaRPr sz="1600">
              <a:solidFill>
                <a:srgbClr val="E2E8F0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E2E8F0"/>
                </a:solidFill>
                <a:latin typeface="Outfit Medium"/>
                <a:ea typeface="Outfit Medium"/>
                <a:cs typeface="Outfit Medium"/>
                <a:sym typeface="Outfit Medium"/>
              </a:rPr>
              <a:t>Aiden Mclean, </a:t>
            </a:r>
            <a:r>
              <a:rPr lang="en-US" sz="1600">
                <a:solidFill>
                  <a:srgbClr val="E2E8F0"/>
                </a:solidFill>
                <a:latin typeface="Outfit Medium"/>
                <a:ea typeface="Outfit Medium"/>
                <a:cs typeface="Outfit Medium"/>
                <a:sym typeface="Outfit Medium"/>
              </a:rPr>
              <a:t>Gyuhyoun K. (Evelyn), Jason V., Taslima S., Tamerlan K., Ngai Wong (Kelvin)</a:t>
            </a:r>
            <a:endParaRPr sz="3100">
              <a:solidFill>
                <a:srgbClr val="E2E8F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921197" y="1690786"/>
            <a:ext cx="5099100" cy="23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Disney stood for: family-friendly entertainment, magic, storytelling, and strong brand nostalgia.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 consumers saw Disney: A brand trusted for quality and childhood memories, and a timeless leader in movies, theme parks, and merchandise. 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Pre-disruption media landscape: Disney dominated in theaters, cable TV (Disney Channel, ABC), and merchandising.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6699750" y="882425"/>
            <a:ext cx="3701400" cy="47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Magic Kingdom</a:t>
            </a:r>
            <a:r>
              <a:rPr b="1" i="0" lang="en-US" sz="2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263855" y="819134"/>
            <a:ext cx="4573200" cy="6888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6CA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6637751" y="5346425"/>
            <a:ext cx="1363200" cy="6465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Founded in 1923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678850" y="5485025"/>
            <a:ext cx="21939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Walt Disney </a:t>
            </a:r>
            <a:endParaRPr b="1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17" title="images.png"/>
          <p:cNvPicPr preferRelativeResize="0"/>
          <p:nvPr/>
        </p:nvPicPr>
        <p:blipFill rotWithShape="1">
          <a:blip r:embed="rId3">
            <a:alphaModFix/>
          </a:blip>
          <a:srcRect b="0" l="11011" r="11003" t="0"/>
          <a:stretch/>
        </p:blipFill>
        <p:spPr>
          <a:xfrm>
            <a:off x="1447800" y="981075"/>
            <a:ext cx="3029100" cy="4894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6337747" y="5243166"/>
            <a:ext cx="1963200" cy="8382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8794218" y="5250566"/>
            <a:ext cx="1963200" cy="8382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F6CA4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952725" y="4124678"/>
            <a:ext cx="733257" cy="998825"/>
          </a:xfrm>
          <a:custGeom>
            <a:rect b="b" l="l" r="r" t="t"/>
            <a:pathLst>
              <a:path extrusionOk="0" h="998825" w="733257">
                <a:moveTo>
                  <a:pt x="721637" y="817245"/>
                </a:moveTo>
                <a:cubicBezTo>
                  <a:pt x="692681" y="785717"/>
                  <a:pt x="636578" y="779145"/>
                  <a:pt x="598574" y="800672"/>
                </a:cubicBezTo>
                <a:cubicBezTo>
                  <a:pt x="592478" y="804101"/>
                  <a:pt x="587715" y="805339"/>
                  <a:pt x="582667" y="799433"/>
                </a:cubicBezTo>
                <a:cubicBezTo>
                  <a:pt x="577714" y="793718"/>
                  <a:pt x="571237" y="790861"/>
                  <a:pt x="563712" y="790099"/>
                </a:cubicBezTo>
                <a:cubicBezTo>
                  <a:pt x="556854" y="789432"/>
                  <a:pt x="553616" y="785622"/>
                  <a:pt x="553997" y="778669"/>
                </a:cubicBezTo>
                <a:cubicBezTo>
                  <a:pt x="554187" y="775240"/>
                  <a:pt x="553997" y="771811"/>
                  <a:pt x="554473" y="768477"/>
                </a:cubicBezTo>
                <a:cubicBezTo>
                  <a:pt x="557235" y="747046"/>
                  <a:pt x="557140" y="725329"/>
                  <a:pt x="558283" y="703802"/>
                </a:cubicBezTo>
                <a:cubicBezTo>
                  <a:pt x="558854" y="692658"/>
                  <a:pt x="562379" y="684943"/>
                  <a:pt x="570951" y="677513"/>
                </a:cubicBezTo>
                <a:cubicBezTo>
                  <a:pt x="594954" y="656463"/>
                  <a:pt x="618100" y="634556"/>
                  <a:pt x="628292" y="602552"/>
                </a:cubicBezTo>
                <a:cubicBezTo>
                  <a:pt x="632292" y="589979"/>
                  <a:pt x="631625" y="579882"/>
                  <a:pt x="621243" y="570738"/>
                </a:cubicBezTo>
                <a:cubicBezTo>
                  <a:pt x="611813" y="562547"/>
                  <a:pt x="606479" y="552450"/>
                  <a:pt x="605432" y="539210"/>
                </a:cubicBezTo>
                <a:cubicBezTo>
                  <a:pt x="602003" y="496729"/>
                  <a:pt x="580476" y="464820"/>
                  <a:pt x="543900" y="443770"/>
                </a:cubicBezTo>
                <a:cubicBezTo>
                  <a:pt x="513515" y="426244"/>
                  <a:pt x="482750" y="409194"/>
                  <a:pt x="447602" y="402146"/>
                </a:cubicBezTo>
                <a:cubicBezTo>
                  <a:pt x="472844" y="397193"/>
                  <a:pt x="497418" y="391287"/>
                  <a:pt x="520469" y="380048"/>
                </a:cubicBezTo>
                <a:cubicBezTo>
                  <a:pt x="538185" y="371475"/>
                  <a:pt x="550091" y="357378"/>
                  <a:pt x="552187" y="338328"/>
                </a:cubicBezTo>
                <a:cubicBezTo>
                  <a:pt x="554092" y="321183"/>
                  <a:pt x="561617" y="309086"/>
                  <a:pt x="573142" y="297180"/>
                </a:cubicBezTo>
                <a:cubicBezTo>
                  <a:pt x="584000" y="285941"/>
                  <a:pt x="590668" y="271463"/>
                  <a:pt x="590287" y="254984"/>
                </a:cubicBezTo>
                <a:cubicBezTo>
                  <a:pt x="590001" y="240602"/>
                  <a:pt x="580286" y="227267"/>
                  <a:pt x="567903" y="223838"/>
                </a:cubicBezTo>
                <a:cubicBezTo>
                  <a:pt x="556283" y="220694"/>
                  <a:pt x="544853" y="225933"/>
                  <a:pt x="536090" y="238601"/>
                </a:cubicBezTo>
                <a:cubicBezTo>
                  <a:pt x="532851" y="243269"/>
                  <a:pt x="530089" y="248412"/>
                  <a:pt x="528184" y="253746"/>
                </a:cubicBezTo>
                <a:cubicBezTo>
                  <a:pt x="525422" y="261652"/>
                  <a:pt x="521707" y="263938"/>
                  <a:pt x="513992" y="258985"/>
                </a:cubicBezTo>
                <a:cubicBezTo>
                  <a:pt x="506657" y="254222"/>
                  <a:pt x="498275" y="253841"/>
                  <a:pt x="489798" y="255937"/>
                </a:cubicBezTo>
                <a:cubicBezTo>
                  <a:pt x="481988" y="257968"/>
                  <a:pt x="477352" y="254889"/>
                  <a:pt x="475892" y="246698"/>
                </a:cubicBezTo>
                <a:cubicBezTo>
                  <a:pt x="470748" y="218789"/>
                  <a:pt x="459794" y="193929"/>
                  <a:pt x="439982" y="173069"/>
                </a:cubicBezTo>
                <a:cubicBezTo>
                  <a:pt x="417884" y="149733"/>
                  <a:pt x="389881" y="138303"/>
                  <a:pt x="359306" y="131636"/>
                </a:cubicBezTo>
                <a:cubicBezTo>
                  <a:pt x="346352" y="128778"/>
                  <a:pt x="333112" y="129635"/>
                  <a:pt x="318539" y="128683"/>
                </a:cubicBezTo>
                <a:cubicBezTo>
                  <a:pt x="325492" y="120968"/>
                  <a:pt x="330159" y="113728"/>
                  <a:pt x="333874" y="105823"/>
                </a:cubicBezTo>
                <a:cubicBezTo>
                  <a:pt x="351781" y="67913"/>
                  <a:pt x="328730" y="18002"/>
                  <a:pt x="289297" y="4096"/>
                </a:cubicBezTo>
                <a:cubicBezTo>
                  <a:pt x="283963" y="2191"/>
                  <a:pt x="277772" y="3620"/>
                  <a:pt x="272914" y="0"/>
                </a:cubicBezTo>
                <a:lnTo>
                  <a:pt x="238719" y="0"/>
                </a:lnTo>
                <a:cubicBezTo>
                  <a:pt x="220526" y="2667"/>
                  <a:pt x="204239" y="10668"/>
                  <a:pt x="187665" y="18098"/>
                </a:cubicBezTo>
                <a:cubicBezTo>
                  <a:pt x="152327" y="33814"/>
                  <a:pt x="130610" y="72676"/>
                  <a:pt x="136040" y="110966"/>
                </a:cubicBezTo>
                <a:cubicBezTo>
                  <a:pt x="140897" y="144875"/>
                  <a:pt x="165186" y="169259"/>
                  <a:pt x="199000" y="174308"/>
                </a:cubicBezTo>
                <a:cubicBezTo>
                  <a:pt x="201572" y="174689"/>
                  <a:pt x="204905" y="174117"/>
                  <a:pt x="206048" y="176879"/>
                </a:cubicBezTo>
                <a:cubicBezTo>
                  <a:pt x="207287" y="179927"/>
                  <a:pt x="204239" y="181547"/>
                  <a:pt x="202429" y="183356"/>
                </a:cubicBezTo>
                <a:cubicBezTo>
                  <a:pt x="196523" y="189262"/>
                  <a:pt x="190999" y="195453"/>
                  <a:pt x="186617" y="202692"/>
                </a:cubicBezTo>
                <a:cubicBezTo>
                  <a:pt x="179664" y="214027"/>
                  <a:pt x="179188" y="214122"/>
                  <a:pt x="172997" y="201740"/>
                </a:cubicBezTo>
                <a:cubicBezTo>
                  <a:pt x="147565" y="150590"/>
                  <a:pt x="82414" y="148781"/>
                  <a:pt x="47457" y="179356"/>
                </a:cubicBezTo>
                <a:cubicBezTo>
                  <a:pt x="20120" y="203549"/>
                  <a:pt x="4404" y="233077"/>
                  <a:pt x="5547" y="271082"/>
                </a:cubicBezTo>
                <a:cubicBezTo>
                  <a:pt x="6690" y="307848"/>
                  <a:pt x="37075" y="346996"/>
                  <a:pt x="73270" y="353854"/>
                </a:cubicBezTo>
                <a:cubicBezTo>
                  <a:pt x="104321" y="359759"/>
                  <a:pt x="132992" y="353854"/>
                  <a:pt x="156614" y="331375"/>
                </a:cubicBezTo>
                <a:cubicBezTo>
                  <a:pt x="162995" y="325279"/>
                  <a:pt x="164996" y="327470"/>
                  <a:pt x="166805" y="334328"/>
                </a:cubicBezTo>
                <a:cubicBezTo>
                  <a:pt x="167758" y="338042"/>
                  <a:pt x="169187" y="341567"/>
                  <a:pt x="170425" y="345091"/>
                </a:cubicBezTo>
                <a:cubicBezTo>
                  <a:pt x="179855" y="373475"/>
                  <a:pt x="195761" y="396716"/>
                  <a:pt x="222241" y="411766"/>
                </a:cubicBezTo>
                <a:cubicBezTo>
                  <a:pt x="229194" y="415671"/>
                  <a:pt x="236433" y="419100"/>
                  <a:pt x="243863" y="421862"/>
                </a:cubicBezTo>
                <a:cubicBezTo>
                  <a:pt x="249863" y="424053"/>
                  <a:pt x="252245" y="427292"/>
                  <a:pt x="249578" y="433959"/>
                </a:cubicBezTo>
                <a:cubicBezTo>
                  <a:pt x="242624" y="451771"/>
                  <a:pt x="238719" y="470345"/>
                  <a:pt x="237005" y="489299"/>
                </a:cubicBezTo>
                <a:cubicBezTo>
                  <a:pt x="233861" y="523304"/>
                  <a:pt x="226527" y="556832"/>
                  <a:pt x="226718" y="591122"/>
                </a:cubicBezTo>
                <a:cubicBezTo>
                  <a:pt x="226908" y="620078"/>
                  <a:pt x="239957" y="636080"/>
                  <a:pt x="268247" y="642842"/>
                </a:cubicBezTo>
                <a:cubicBezTo>
                  <a:pt x="279772" y="645605"/>
                  <a:pt x="291392" y="646462"/>
                  <a:pt x="303299" y="645033"/>
                </a:cubicBezTo>
                <a:cubicBezTo>
                  <a:pt x="312347" y="643985"/>
                  <a:pt x="313395" y="645605"/>
                  <a:pt x="310538" y="654368"/>
                </a:cubicBezTo>
                <a:cubicBezTo>
                  <a:pt x="309966" y="656177"/>
                  <a:pt x="309204" y="657892"/>
                  <a:pt x="308442" y="659702"/>
                </a:cubicBezTo>
                <a:cubicBezTo>
                  <a:pt x="298822" y="682085"/>
                  <a:pt x="299679" y="685610"/>
                  <a:pt x="317681" y="701802"/>
                </a:cubicBezTo>
                <a:cubicBezTo>
                  <a:pt x="320253" y="704088"/>
                  <a:pt x="322920" y="706088"/>
                  <a:pt x="325778" y="708088"/>
                </a:cubicBezTo>
                <a:cubicBezTo>
                  <a:pt x="335493" y="715042"/>
                  <a:pt x="335588" y="715518"/>
                  <a:pt x="328921" y="724948"/>
                </a:cubicBezTo>
                <a:cubicBezTo>
                  <a:pt x="312538" y="747998"/>
                  <a:pt x="292631" y="767620"/>
                  <a:pt x="271771" y="786479"/>
                </a:cubicBezTo>
                <a:cubicBezTo>
                  <a:pt x="261198" y="796004"/>
                  <a:pt x="250435" y="798862"/>
                  <a:pt x="237671" y="792290"/>
                </a:cubicBezTo>
                <a:cubicBezTo>
                  <a:pt x="226908" y="790765"/>
                  <a:pt x="221669" y="784384"/>
                  <a:pt x="218526" y="774097"/>
                </a:cubicBezTo>
                <a:cubicBezTo>
                  <a:pt x="211097" y="749999"/>
                  <a:pt x="199952" y="727424"/>
                  <a:pt x="183474" y="708088"/>
                </a:cubicBezTo>
                <a:cubicBezTo>
                  <a:pt x="138707" y="655796"/>
                  <a:pt x="76985" y="661321"/>
                  <a:pt x="45552" y="721805"/>
                </a:cubicBezTo>
                <a:cubicBezTo>
                  <a:pt x="30407" y="751046"/>
                  <a:pt x="32884" y="780860"/>
                  <a:pt x="41075" y="810387"/>
                </a:cubicBezTo>
                <a:cubicBezTo>
                  <a:pt x="51362" y="847344"/>
                  <a:pt x="70127" y="880396"/>
                  <a:pt x="95082" y="909733"/>
                </a:cubicBezTo>
                <a:cubicBezTo>
                  <a:pt x="97178" y="912209"/>
                  <a:pt x="101464" y="914590"/>
                  <a:pt x="99464" y="918115"/>
                </a:cubicBezTo>
                <a:cubicBezTo>
                  <a:pt x="97559" y="921449"/>
                  <a:pt x="93177" y="919544"/>
                  <a:pt x="89939" y="918877"/>
                </a:cubicBezTo>
                <a:cubicBezTo>
                  <a:pt x="62697" y="913829"/>
                  <a:pt x="35646" y="907637"/>
                  <a:pt x="10119" y="896398"/>
                </a:cubicBezTo>
                <a:cubicBezTo>
                  <a:pt x="6976" y="894969"/>
                  <a:pt x="2404" y="891921"/>
                  <a:pt x="308" y="896684"/>
                </a:cubicBezTo>
                <a:cubicBezTo>
                  <a:pt x="-1216" y="900113"/>
                  <a:pt x="3261" y="902208"/>
                  <a:pt x="6023" y="904018"/>
                </a:cubicBezTo>
                <a:cubicBezTo>
                  <a:pt x="6976" y="904685"/>
                  <a:pt x="8024" y="905161"/>
                  <a:pt x="9071" y="905542"/>
                </a:cubicBezTo>
                <a:cubicBezTo>
                  <a:pt x="40885" y="919258"/>
                  <a:pt x="73270" y="930974"/>
                  <a:pt x="107941" y="935355"/>
                </a:cubicBezTo>
                <a:cubicBezTo>
                  <a:pt x="116704" y="936498"/>
                  <a:pt x="126705" y="936117"/>
                  <a:pt x="127277" y="949262"/>
                </a:cubicBezTo>
                <a:cubicBezTo>
                  <a:pt x="127277" y="951357"/>
                  <a:pt x="129658" y="953072"/>
                  <a:pt x="131182" y="954691"/>
                </a:cubicBezTo>
                <a:cubicBezTo>
                  <a:pt x="140231" y="964502"/>
                  <a:pt x="149565" y="974217"/>
                  <a:pt x="160995" y="980980"/>
                </a:cubicBezTo>
                <a:cubicBezTo>
                  <a:pt x="185284" y="995363"/>
                  <a:pt x="210335" y="1007078"/>
                  <a:pt x="238910" y="991267"/>
                </a:cubicBezTo>
                <a:cubicBezTo>
                  <a:pt x="241577" y="989743"/>
                  <a:pt x="244815" y="989743"/>
                  <a:pt x="247768" y="989552"/>
                </a:cubicBezTo>
                <a:cubicBezTo>
                  <a:pt x="263579" y="988505"/>
                  <a:pt x="274438" y="979646"/>
                  <a:pt x="282629" y="966883"/>
                </a:cubicBezTo>
                <a:cubicBezTo>
                  <a:pt x="287392" y="959453"/>
                  <a:pt x="290440" y="951262"/>
                  <a:pt x="292440" y="942689"/>
                </a:cubicBezTo>
                <a:cubicBezTo>
                  <a:pt x="294155" y="935165"/>
                  <a:pt x="298346" y="929735"/>
                  <a:pt x="305204" y="926116"/>
                </a:cubicBezTo>
                <a:cubicBezTo>
                  <a:pt x="329969" y="913352"/>
                  <a:pt x="352162" y="897065"/>
                  <a:pt x="372831" y="877729"/>
                </a:cubicBezTo>
                <a:cubicBezTo>
                  <a:pt x="357782" y="918210"/>
                  <a:pt x="377975" y="944023"/>
                  <a:pt x="413312" y="954405"/>
                </a:cubicBezTo>
                <a:cubicBezTo>
                  <a:pt x="418742" y="956024"/>
                  <a:pt x="424361" y="956977"/>
                  <a:pt x="430076" y="957453"/>
                </a:cubicBezTo>
                <a:cubicBezTo>
                  <a:pt x="477320" y="961739"/>
                  <a:pt x="524564" y="962406"/>
                  <a:pt x="571808" y="957453"/>
                </a:cubicBezTo>
                <a:cubicBezTo>
                  <a:pt x="601717" y="954310"/>
                  <a:pt x="631435" y="950405"/>
                  <a:pt x="659915" y="940594"/>
                </a:cubicBezTo>
                <a:cubicBezTo>
                  <a:pt x="694300" y="928783"/>
                  <a:pt x="722589" y="910019"/>
                  <a:pt x="733257" y="872395"/>
                </a:cubicBezTo>
                <a:lnTo>
                  <a:pt x="733257" y="838200"/>
                </a:lnTo>
                <a:cubicBezTo>
                  <a:pt x="730781" y="830199"/>
                  <a:pt x="727733" y="822960"/>
                  <a:pt x="721732" y="816483"/>
                </a:cubicBezTo>
                <a:close/>
                <a:moveTo>
                  <a:pt x="320444" y="519494"/>
                </a:moveTo>
                <a:cubicBezTo>
                  <a:pt x="308823" y="537686"/>
                  <a:pt x="303108" y="557879"/>
                  <a:pt x="302632" y="579596"/>
                </a:cubicBezTo>
                <a:cubicBezTo>
                  <a:pt x="302441" y="588169"/>
                  <a:pt x="299774" y="593884"/>
                  <a:pt x="289106" y="592931"/>
                </a:cubicBezTo>
                <a:cubicBezTo>
                  <a:pt x="279581" y="592074"/>
                  <a:pt x="276438" y="587693"/>
                  <a:pt x="277676" y="578930"/>
                </a:cubicBezTo>
                <a:cubicBezTo>
                  <a:pt x="280343" y="559880"/>
                  <a:pt x="282439" y="540830"/>
                  <a:pt x="285868" y="521970"/>
                </a:cubicBezTo>
                <a:cubicBezTo>
                  <a:pt x="288154" y="509683"/>
                  <a:pt x="283582" y="496824"/>
                  <a:pt x="290535" y="483965"/>
                </a:cubicBezTo>
                <a:cubicBezTo>
                  <a:pt x="299679" y="492919"/>
                  <a:pt x="308728" y="500348"/>
                  <a:pt x="318158" y="507111"/>
                </a:cubicBezTo>
                <a:cubicBezTo>
                  <a:pt x="322825" y="510445"/>
                  <a:pt x="324158" y="513779"/>
                  <a:pt x="320539" y="519398"/>
                </a:cubicBezTo>
                <a:close/>
                <a:moveTo>
                  <a:pt x="309014" y="912114"/>
                </a:moveTo>
                <a:cubicBezTo>
                  <a:pt x="303680" y="915448"/>
                  <a:pt x="297774" y="921830"/>
                  <a:pt x="292059" y="918305"/>
                </a:cubicBezTo>
                <a:cubicBezTo>
                  <a:pt x="286916" y="915162"/>
                  <a:pt x="287963" y="906685"/>
                  <a:pt x="286439" y="900589"/>
                </a:cubicBezTo>
                <a:cubicBezTo>
                  <a:pt x="289392" y="887825"/>
                  <a:pt x="290154" y="875157"/>
                  <a:pt x="287011" y="862298"/>
                </a:cubicBezTo>
                <a:cubicBezTo>
                  <a:pt x="285773" y="857155"/>
                  <a:pt x="290154" y="852678"/>
                  <a:pt x="293583" y="849725"/>
                </a:cubicBezTo>
                <a:cubicBezTo>
                  <a:pt x="327683" y="821341"/>
                  <a:pt x="353210" y="785717"/>
                  <a:pt x="378641" y="749999"/>
                </a:cubicBezTo>
                <a:cubicBezTo>
                  <a:pt x="379308" y="749046"/>
                  <a:pt x="379784" y="748094"/>
                  <a:pt x="380356" y="747046"/>
                </a:cubicBezTo>
                <a:cubicBezTo>
                  <a:pt x="386261" y="735806"/>
                  <a:pt x="394548" y="731330"/>
                  <a:pt x="407121" y="736663"/>
                </a:cubicBezTo>
                <a:cubicBezTo>
                  <a:pt x="417218" y="740950"/>
                  <a:pt x="428171" y="737902"/>
                  <a:pt x="438649" y="738759"/>
                </a:cubicBezTo>
                <a:cubicBezTo>
                  <a:pt x="446650" y="739426"/>
                  <a:pt x="450746" y="741617"/>
                  <a:pt x="446745" y="751332"/>
                </a:cubicBezTo>
                <a:cubicBezTo>
                  <a:pt x="431219" y="789337"/>
                  <a:pt x="408550" y="822484"/>
                  <a:pt x="381213" y="852773"/>
                </a:cubicBezTo>
                <a:cubicBezTo>
                  <a:pt x="359972" y="876300"/>
                  <a:pt x="335493" y="895445"/>
                  <a:pt x="308918" y="912209"/>
                </a:cubicBezTo>
                <a:close/>
                <a:moveTo>
                  <a:pt x="504371" y="765524"/>
                </a:moveTo>
                <a:cubicBezTo>
                  <a:pt x="503705" y="771144"/>
                  <a:pt x="501990" y="776669"/>
                  <a:pt x="501990" y="782193"/>
                </a:cubicBezTo>
                <a:cubicBezTo>
                  <a:pt x="501990" y="795814"/>
                  <a:pt x="492941" y="798862"/>
                  <a:pt x="482083" y="800005"/>
                </a:cubicBezTo>
                <a:cubicBezTo>
                  <a:pt x="464366" y="802005"/>
                  <a:pt x="451984" y="811530"/>
                  <a:pt x="445221" y="827723"/>
                </a:cubicBezTo>
                <a:cubicBezTo>
                  <a:pt x="442935" y="833247"/>
                  <a:pt x="440363" y="835914"/>
                  <a:pt x="434363" y="837248"/>
                </a:cubicBezTo>
                <a:cubicBezTo>
                  <a:pt x="423504" y="839724"/>
                  <a:pt x="413027" y="843820"/>
                  <a:pt x="402454" y="847249"/>
                </a:cubicBezTo>
                <a:cubicBezTo>
                  <a:pt x="415408" y="827342"/>
                  <a:pt x="428743" y="808673"/>
                  <a:pt x="439601" y="788384"/>
                </a:cubicBezTo>
                <a:cubicBezTo>
                  <a:pt x="452079" y="764953"/>
                  <a:pt x="462652" y="740759"/>
                  <a:pt x="470462" y="715423"/>
                </a:cubicBezTo>
                <a:cubicBezTo>
                  <a:pt x="474844" y="701135"/>
                  <a:pt x="478749" y="699992"/>
                  <a:pt x="490465" y="708755"/>
                </a:cubicBezTo>
                <a:cubicBezTo>
                  <a:pt x="494846" y="712089"/>
                  <a:pt x="498180" y="710375"/>
                  <a:pt x="501895" y="708470"/>
                </a:cubicBezTo>
                <a:cubicBezTo>
                  <a:pt x="507896" y="705326"/>
                  <a:pt x="510658" y="707612"/>
                  <a:pt x="509991" y="713899"/>
                </a:cubicBezTo>
                <a:cubicBezTo>
                  <a:pt x="508277" y="731139"/>
                  <a:pt x="506372" y="748284"/>
                  <a:pt x="504467" y="765524"/>
                </a:cubicBezTo>
                <a:close/>
              </a:path>
            </a:pathLst>
          </a:custGeom>
          <a:solidFill>
            <a:srgbClr val="0662AF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9409184" y="4124678"/>
            <a:ext cx="733257" cy="998825"/>
          </a:xfrm>
          <a:custGeom>
            <a:rect b="b" l="l" r="r" t="t"/>
            <a:pathLst>
              <a:path extrusionOk="0" h="998825" w="733257">
                <a:moveTo>
                  <a:pt x="721637" y="817245"/>
                </a:moveTo>
                <a:cubicBezTo>
                  <a:pt x="692681" y="785717"/>
                  <a:pt x="636578" y="779145"/>
                  <a:pt x="598574" y="800672"/>
                </a:cubicBezTo>
                <a:cubicBezTo>
                  <a:pt x="592478" y="804101"/>
                  <a:pt x="587715" y="805339"/>
                  <a:pt x="582667" y="799433"/>
                </a:cubicBezTo>
                <a:cubicBezTo>
                  <a:pt x="577714" y="793718"/>
                  <a:pt x="571237" y="790861"/>
                  <a:pt x="563712" y="790099"/>
                </a:cubicBezTo>
                <a:cubicBezTo>
                  <a:pt x="556854" y="789432"/>
                  <a:pt x="553616" y="785622"/>
                  <a:pt x="553997" y="778669"/>
                </a:cubicBezTo>
                <a:cubicBezTo>
                  <a:pt x="554187" y="775240"/>
                  <a:pt x="553997" y="771811"/>
                  <a:pt x="554473" y="768477"/>
                </a:cubicBezTo>
                <a:cubicBezTo>
                  <a:pt x="557235" y="747046"/>
                  <a:pt x="557140" y="725329"/>
                  <a:pt x="558283" y="703802"/>
                </a:cubicBezTo>
                <a:cubicBezTo>
                  <a:pt x="558854" y="692658"/>
                  <a:pt x="562379" y="684943"/>
                  <a:pt x="570951" y="677513"/>
                </a:cubicBezTo>
                <a:cubicBezTo>
                  <a:pt x="594954" y="656463"/>
                  <a:pt x="618100" y="634556"/>
                  <a:pt x="628292" y="602552"/>
                </a:cubicBezTo>
                <a:cubicBezTo>
                  <a:pt x="632292" y="589979"/>
                  <a:pt x="631625" y="579882"/>
                  <a:pt x="621243" y="570738"/>
                </a:cubicBezTo>
                <a:cubicBezTo>
                  <a:pt x="611813" y="562547"/>
                  <a:pt x="606479" y="552450"/>
                  <a:pt x="605432" y="539210"/>
                </a:cubicBezTo>
                <a:cubicBezTo>
                  <a:pt x="602003" y="496729"/>
                  <a:pt x="580476" y="464820"/>
                  <a:pt x="543900" y="443770"/>
                </a:cubicBezTo>
                <a:cubicBezTo>
                  <a:pt x="513515" y="426244"/>
                  <a:pt x="482750" y="409194"/>
                  <a:pt x="447602" y="402146"/>
                </a:cubicBezTo>
                <a:cubicBezTo>
                  <a:pt x="472844" y="397193"/>
                  <a:pt x="497418" y="391287"/>
                  <a:pt x="520469" y="380048"/>
                </a:cubicBezTo>
                <a:cubicBezTo>
                  <a:pt x="538185" y="371475"/>
                  <a:pt x="550091" y="357378"/>
                  <a:pt x="552187" y="338328"/>
                </a:cubicBezTo>
                <a:cubicBezTo>
                  <a:pt x="554092" y="321183"/>
                  <a:pt x="561617" y="309086"/>
                  <a:pt x="573142" y="297180"/>
                </a:cubicBezTo>
                <a:cubicBezTo>
                  <a:pt x="584000" y="285941"/>
                  <a:pt x="590668" y="271463"/>
                  <a:pt x="590287" y="254984"/>
                </a:cubicBezTo>
                <a:cubicBezTo>
                  <a:pt x="590001" y="240602"/>
                  <a:pt x="580286" y="227267"/>
                  <a:pt x="567903" y="223838"/>
                </a:cubicBezTo>
                <a:cubicBezTo>
                  <a:pt x="556283" y="220694"/>
                  <a:pt x="544853" y="225933"/>
                  <a:pt x="536090" y="238601"/>
                </a:cubicBezTo>
                <a:cubicBezTo>
                  <a:pt x="532851" y="243269"/>
                  <a:pt x="530089" y="248412"/>
                  <a:pt x="528184" y="253746"/>
                </a:cubicBezTo>
                <a:cubicBezTo>
                  <a:pt x="525422" y="261652"/>
                  <a:pt x="521707" y="263938"/>
                  <a:pt x="513992" y="258985"/>
                </a:cubicBezTo>
                <a:cubicBezTo>
                  <a:pt x="506657" y="254222"/>
                  <a:pt x="498275" y="253841"/>
                  <a:pt x="489798" y="255937"/>
                </a:cubicBezTo>
                <a:cubicBezTo>
                  <a:pt x="481988" y="257968"/>
                  <a:pt x="477352" y="254889"/>
                  <a:pt x="475892" y="246698"/>
                </a:cubicBezTo>
                <a:cubicBezTo>
                  <a:pt x="470748" y="218789"/>
                  <a:pt x="459794" y="193929"/>
                  <a:pt x="439982" y="173069"/>
                </a:cubicBezTo>
                <a:cubicBezTo>
                  <a:pt x="417884" y="149733"/>
                  <a:pt x="389881" y="138303"/>
                  <a:pt x="359306" y="131636"/>
                </a:cubicBezTo>
                <a:cubicBezTo>
                  <a:pt x="346352" y="128778"/>
                  <a:pt x="333112" y="129635"/>
                  <a:pt x="318539" y="128683"/>
                </a:cubicBezTo>
                <a:cubicBezTo>
                  <a:pt x="325492" y="120968"/>
                  <a:pt x="330159" y="113728"/>
                  <a:pt x="333874" y="105823"/>
                </a:cubicBezTo>
                <a:cubicBezTo>
                  <a:pt x="351781" y="67913"/>
                  <a:pt x="328730" y="18002"/>
                  <a:pt x="289297" y="4096"/>
                </a:cubicBezTo>
                <a:cubicBezTo>
                  <a:pt x="283963" y="2191"/>
                  <a:pt x="277772" y="3620"/>
                  <a:pt x="272914" y="0"/>
                </a:cubicBezTo>
                <a:lnTo>
                  <a:pt x="238719" y="0"/>
                </a:lnTo>
                <a:cubicBezTo>
                  <a:pt x="220526" y="2667"/>
                  <a:pt x="204239" y="10668"/>
                  <a:pt x="187665" y="18098"/>
                </a:cubicBezTo>
                <a:cubicBezTo>
                  <a:pt x="152327" y="33814"/>
                  <a:pt x="130610" y="72676"/>
                  <a:pt x="136040" y="110966"/>
                </a:cubicBezTo>
                <a:cubicBezTo>
                  <a:pt x="140897" y="144875"/>
                  <a:pt x="165186" y="169259"/>
                  <a:pt x="199000" y="174308"/>
                </a:cubicBezTo>
                <a:cubicBezTo>
                  <a:pt x="201572" y="174689"/>
                  <a:pt x="204905" y="174117"/>
                  <a:pt x="206048" y="176879"/>
                </a:cubicBezTo>
                <a:cubicBezTo>
                  <a:pt x="207287" y="179927"/>
                  <a:pt x="204239" y="181547"/>
                  <a:pt x="202429" y="183356"/>
                </a:cubicBezTo>
                <a:cubicBezTo>
                  <a:pt x="196523" y="189262"/>
                  <a:pt x="190999" y="195453"/>
                  <a:pt x="186617" y="202692"/>
                </a:cubicBezTo>
                <a:cubicBezTo>
                  <a:pt x="179664" y="214027"/>
                  <a:pt x="179188" y="214122"/>
                  <a:pt x="172997" y="201740"/>
                </a:cubicBezTo>
                <a:cubicBezTo>
                  <a:pt x="147565" y="150590"/>
                  <a:pt x="82414" y="148781"/>
                  <a:pt x="47457" y="179356"/>
                </a:cubicBezTo>
                <a:cubicBezTo>
                  <a:pt x="20120" y="203549"/>
                  <a:pt x="4404" y="233077"/>
                  <a:pt x="5547" y="271082"/>
                </a:cubicBezTo>
                <a:cubicBezTo>
                  <a:pt x="6690" y="307848"/>
                  <a:pt x="37075" y="346996"/>
                  <a:pt x="73270" y="353854"/>
                </a:cubicBezTo>
                <a:cubicBezTo>
                  <a:pt x="104321" y="359759"/>
                  <a:pt x="132992" y="353854"/>
                  <a:pt x="156614" y="331375"/>
                </a:cubicBezTo>
                <a:cubicBezTo>
                  <a:pt x="162995" y="325279"/>
                  <a:pt x="164996" y="327470"/>
                  <a:pt x="166805" y="334328"/>
                </a:cubicBezTo>
                <a:cubicBezTo>
                  <a:pt x="167758" y="338042"/>
                  <a:pt x="169187" y="341567"/>
                  <a:pt x="170425" y="345091"/>
                </a:cubicBezTo>
                <a:cubicBezTo>
                  <a:pt x="179855" y="373475"/>
                  <a:pt x="195761" y="396716"/>
                  <a:pt x="222241" y="411766"/>
                </a:cubicBezTo>
                <a:cubicBezTo>
                  <a:pt x="229194" y="415671"/>
                  <a:pt x="236433" y="419100"/>
                  <a:pt x="243863" y="421862"/>
                </a:cubicBezTo>
                <a:cubicBezTo>
                  <a:pt x="249863" y="424053"/>
                  <a:pt x="252245" y="427292"/>
                  <a:pt x="249578" y="433959"/>
                </a:cubicBezTo>
                <a:cubicBezTo>
                  <a:pt x="242624" y="451771"/>
                  <a:pt x="238719" y="470345"/>
                  <a:pt x="237005" y="489299"/>
                </a:cubicBezTo>
                <a:cubicBezTo>
                  <a:pt x="233861" y="523304"/>
                  <a:pt x="226527" y="556832"/>
                  <a:pt x="226718" y="591122"/>
                </a:cubicBezTo>
                <a:cubicBezTo>
                  <a:pt x="226908" y="620078"/>
                  <a:pt x="239957" y="636080"/>
                  <a:pt x="268247" y="642842"/>
                </a:cubicBezTo>
                <a:cubicBezTo>
                  <a:pt x="279772" y="645605"/>
                  <a:pt x="291392" y="646462"/>
                  <a:pt x="303299" y="645033"/>
                </a:cubicBezTo>
                <a:cubicBezTo>
                  <a:pt x="312347" y="643985"/>
                  <a:pt x="313395" y="645605"/>
                  <a:pt x="310538" y="654368"/>
                </a:cubicBezTo>
                <a:cubicBezTo>
                  <a:pt x="309966" y="656177"/>
                  <a:pt x="309204" y="657892"/>
                  <a:pt x="308442" y="659702"/>
                </a:cubicBezTo>
                <a:cubicBezTo>
                  <a:pt x="298822" y="682085"/>
                  <a:pt x="299679" y="685610"/>
                  <a:pt x="317681" y="701802"/>
                </a:cubicBezTo>
                <a:cubicBezTo>
                  <a:pt x="320253" y="704088"/>
                  <a:pt x="322920" y="706088"/>
                  <a:pt x="325778" y="708088"/>
                </a:cubicBezTo>
                <a:cubicBezTo>
                  <a:pt x="335493" y="715042"/>
                  <a:pt x="335588" y="715518"/>
                  <a:pt x="328921" y="724948"/>
                </a:cubicBezTo>
                <a:cubicBezTo>
                  <a:pt x="312538" y="747998"/>
                  <a:pt x="292631" y="767620"/>
                  <a:pt x="271771" y="786479"/>
                </a:cubicBezTo>
                <a:cubicBezTo>
                  <a:pt x="261198" y="796004"/>
                  <a:pt x="250435" y="798862"/>
                  <a:pt x="237671" y="792290"/>
                </a:cubicBezTo>
                <a:cubicBezTo>
                  <a:pt x="226908" y="790765"/>
                  <a:pt x="221669" y="784384"/>
                  <a:pt x="218526" y="774097"/>
                </a:cubicBezTo>
                <a:cubicBezTo>
                  <a:pt x="211097" y="749999"/>
                  <a:pt x="199952" y="727424"/>
                  <a:pt x="183474" y="708088"/>
                </a:cubicBezTo>
                <a:cubicBezTo>
                  <a:pt x="138707" y="655796"/>
                  <a:pt x="76985" y="661321"/>
                  <a:pt x="45552" y="721805"/>
                </a:cubicBezTo>
                <a:cubicBezTo>
                  <a:pt x="30407" y="751046"/>
                  <a:pt x="32884" y="780860"/>
                  <a:pt x="41075" y="810387"/>
                </a:cubicBezTo>
                <a:cubicBezTo>
                  <a:pt x="51362" y="847344"/>
                  <a:pt x="70127" y="880396"/>
                  <a:pt x="95082" y="909733"/>
                </a:cubicBezTo>
                <a:cubicBezTo>
                  <a:pt x="97178" y="912209"/>
                  <a:pt x="101464" y="914590"/>
                  <a:pt x="99464" y="918115"/>
                </a:cubicBezTo>
                <a:cubicBezTo>
                  <a:pt x="97559" y="921449"/>
                  <a:pt x="93177" y="919544"/>
                  <a:pt x="89939" y="918877"/>
                </a:cubicBezTo>
                <a:cubicBezTo>
                  <a:pt x="62697" y="913829"/>
                  <a:pt x="35646" y="907637"/>
                  <a:pt x="10119" y="896398"/>
                </a:cubicBezTo>
                <a:cubicBezTo>
                  <a:pt x="6976" y="894969"/>
                  <a:pt x="2404" y="891921"/>
                  <a:pt x="308" y="896684"/>
                </a:cubicBezTo>
                <a:cubicBezTo>
                  <a:pt x="-1216" y="900113"/>
                  <a:pt x="3261" y="902208"/>
                  <a:pt x="6023" y="904018"/>
                </a:cubicBezTo>
                <a:cubicBezTo>
                  <a:pt x="6976" y="904685"/>
                  <a:pt x="8024" y="905161"/>
                  <a:pt x="9071" y="905542"/>
                </a:cubicBezTo>
                <a:cubicBezTo>
                  <a:pt x="40885" y="919258"/>
                  <a:pt x="73270" y="930974"/>
                  <a:pt x="107941" y="935355"/>
                </a:cubicBezTo>
                <a:cubicBezTo>
                  <a:pt x="116704" y="936498"/>
                  <a:pt x="126705" y="936117"/>
                  <a:pt x="127277" y="949262"/>
                </a:cubicBezTo>
                <a:cubicBezTo>
                  <a:pt x="127277" y="951357"/>
                  <a:pt x="129658" y="953072"/>
                  <a:pt x="131182" y="954691"/>
                </a:cubicBezTo>
                <a:cubicBezTo>
                  <a:pt x="140231" y="964502"/>
                  <a:pt x="149565" y="974217"/>
                  <a:pt x="160995" y="980980"/>
                </a:cubicBezTo>
                <a:cubicBezTo>
                  <a:pt x="185284" y="995363"/>
                  <a:pt x="210335" y="1007078"/>
                  <a:pt x="238910" y="991267"/>
                </a:cubicBezTo>
                <a:cubicBezTo>
                  <a:pt x="241577" y="989743"/>
                  <a:pt x="244815" y="989743"/>
                  <a:pt x="247768" y="989552"/>
                </a:cubicBezTo>
                <a:cubicBezTo>
                  <a:pt x="263579" y="988505"/>
                  <a:pt x="274438" y="979646"/>
                  <a:pt x="282629" y="966883"/>
                </a:cubicBezTo>
                <a:cubicBezTo>
                  <a:pt x="287392" y="959453"/>
                  <a:pt x="290440" y="951262"/>
                  <a:pt x="292440" y="942689"/>
                </a:cubicBezTo>
                <a:cubicBezTo>
                  <a:pt x="294155" y="935165"/>
                  <a:pt x="298346" y="929735"/>
                  <a:pt x="305204" y="926116"/>
                </a:cubicBezTo>
                <a:cubicBezTo>
                  <a:pt x="329969" y="913352"/>
                  <a:pt x="352162" y="897065"/>
                  <a:pt x="372831" y="877729"/>
                </a:cubicBezTo>
                <a:cubicBezTo>
                  <a:pt x="357782" y="918210"/>
                  <a:pt x="377975" y="944023"/>
                  <a:pt x="413312" y="954405"/>
                </a:cubicBezTo>
                <a:cubicBezTo>
                  <a:pt x="418742" y="956024"/>
                  <a:pt x="424361" y="956977"/>
                  <a:pt x="430076" y="957453"/>
                </a:cubicBezTo>
                <a:cubicBezTo>
                  <a:pt x="477320" y="961739"/>
                  <a:pt x="524564" y="962406"/>
                  <a:pt x="571808" y="957453"/>
                </a:cubicBezTo>
                <a:cubicBezTo>
                  <a:pt x="601717" y="954310"/>
                  <a:pt x="631435" y="950405"/>
                  <a:pt x="659915" y="940594"/>
                </a:cubicBezTo>
                <a:cubicBezTo>
                  <a:pt x="694300" y="928783"/>
                  <a:pt x="722589" y="910019"/>
                  <a:pt x="733257" y="872395"/>
                </a:cubicBezTo>
                <a:lnTo>
                  <a:pt x="733257" y="838200"/>
                </a:lnTo>
                <a:cubicBezTo>
                  <a:pt x="730781" y="830199"/>
                  <a:pt x="727733" y="822960"/>
                  <a:pt x="721732" y="816483"/>
                </a:cubicBezTo>
                <a:close/>
                <a:moveTo>
                  <a:pt x="320444" y="519494"/>
                </a:moveTo>
                <a:cubicBezTo>
                  <a:pt x="308823" y="537686"/>
                  <a:pt x="303108" y="557879"/>
                  <a:pt x="302632" y="579596"/>
                </a:cubicBezTo>
                <a:cubicBezTo>
                  <a:pt x="302441" y="588169"/>
                  <a:pt x="299774" y="593884"/>
                  <a:pt x="289106" y="592931"/>
                </a:cubicBezTo>
                <a:cubicBezTo>
                  <a:pt x="279581" y="592074"/>
                  <a:pt x="276438" y="587693"/>
                  <a:pt x="277676" y="578930"/>
                </a:cubicBezTo>
                <a:cubicBezTo>
                  <a:pt x="280343" y="559880"/>
                  <a:pt x="282439" y="540830"/>
                  <a:pt x="285868" y="521970"/>
                </a:cubicBezTo>
                <a:cubicBezTo>
                  <a:pt x="288154" y="509683"/>
                  <a:pt x="283582" y="496824"/>
                  <a:pt x="290535" y="483965"/>
                </a:cubicBezTo>
                <a:cubicBezTo>
                  <a:pt x="299679" y="492919"/>
                  <a:pt x="308728" y="500348"/>
                  <a:pt x="318158" y="507111"/>
                </a:cubicBezTo>
                <a:cubicBezTo>
                  <a:pt x="322825" y="510445"/>
                  <a:pt x="324158" y="513779"/>
                  <a:pt x="320539" y="519398"/>
                </a:cubicBezTo>
                <a:close/>
                <a:moveTo>
                  <a:pt x="309014" y="912114"/>
                </a:moveTo>
                <a:cubicBezTo>
                  <a:pt x="303680" y="915448"/>
                  <a:pt x="297774" y="921830"/>
                  <a:pt x="292059" y="918305"/>
                </a:cubicBezTo>
                <a:cubicBezTo>
                  <a:pt x="286916" y="915162"/>
                  <a:pt x="287963" y="906685"/>
                  <a:pt x="286439" y="900589"/>
                </a:cubicBezTo>
                <a:cubicBezTo>
                  <a:pt x="289392" y="887825"/>
                  <a:pt x="290154" y="875157"/>
                  <a:pt x="287011" y="862298"/>
                </a:cubicBezTo>
                <a:cubicBezTo>
                  <a:pt x="285773" y="857155"/>
                  <a:pt x="290154" y="852678"/>
                  <a:pt x="293583" y="849725"/>
                </a:cubicBezTo>
                <a:cubicBezTo>
                  <a:pt x="327683" y="821341"/>
                  <a:pt x="353210" y="785717"/>
                  <a:pt x="378641" y="749999"/>
                </a:cubicBezTo>
                <a:cubicBezTo>
                  <a:pt x="379308" y="749046"/>
                  <a:pt x="379784" y="748094"/>
                  <a:pt x="380356" y="747046"/>
                </a:cubicBezTo>
                <a:cubicBezTo>
                  <a:pt x="386261" y="735806"/>
                  <a:pt x="394548" y="731330"/>
                  <a:pt x="407121" y="736663"/>
                </a:cubicBezTo>
                <a:cubicBezTo>
                  <a:pt x="417218" y="740950"/>
                  <a:pt x="428171" y="737902"/>
                  <a:pt x="438649" y="738759"/>
                </a:cubicBezTo>
                <a:cubicBezTo>
                  <a:pt x="446650" y="739426"/>
                  <a:pt x="450746" y="741617"/>
                  <a:pt x="446745" y="751332"/>
                </a:cubicBezTo>
                <a:cubicBezTo>
                  <a:pt x="431219" y="789337"/>
                  <a:pt x="408550" y="822484"/>
                  <a:pt x="381213" y="852773"/>
                </a:cubicBezTo>
                <a:cubicBezTo>
                  <a:pt x="359972" y="876300"/>
                  <a:pt x="335493" y="895445"/>
                  <a:pt x="308918" y="912209"/>
                </a:cubicBezTo>
                <a:close/>
                <a:moveTo>
                  <a:pt x="504371" y="765524"/>
                </a:moveTo>
                <a:cubicBezTo>
                  <a:pt x="503705" y="771144"/>
                  <a:pt x="501990" y="776669"/>
                  <a:pt x="501990" y="782193"/>
                </a:cubicBezTo>
                <a:cubicBezTo>
                  <a:pt x="501990" y="795814"/>
                  <a:pt x="492941" y="798862"/>
                  <a:pt x="482083" y="800005"/>
                </a:cubicBezTo>
                <a:cubicBezTo>
                  <a:pt x="464366" y="802005"/>
                  <a:pt x="451984" y="811530"/>
                  <a:pt x="445221" y="827723"/>
                </a:cubicBezTo>
                <a:cubicBezTo>
                  <a:pt x="442935" y="833247"/>
                  <a:pt x="440363" y="835914"/>
                  <a:pt x="434363" y="837248"/>
                </a:cubicBezTo>
                <a:cubicBezTo>
                  <a:pt x="423504" y="839724"/>
                  <a:pt x="413027" y="843820"/>
                  <a:pt x="402454" y="847249"/>
                </a:cubicBezTo>
                <a:cubicBezTo>
                  <a:pt x="415408" y="827342"/>
                  <a:pt x="428743" y="808673"/>
                  <a:pt x="439601" y="788384"/>
                </a:cubicBezTo>
                <a:cubicBezTo>
                  <a:pt x="452079" y="764953"/>
                  <a:pt x="462652" y="740759"/>
                  <a:pt x="470462" y="715423"/>
                </a:cubicBezTo>
                <a:cubicBezTo>
                  <a:pt x="474844" y="701135"/>
                  <a:pt x="478749" y="699992"/>
                  <a:pt x="490465" y="708755"/>
                </a:cubicBezTo>
                <a:cubicBezTo>
                  <a:pt x="494846" y="712089"/>
                  <a:pt x="498180" y="710375"/>
                  <a:pt x="501895" y="708470"/>
                </a:cubicBezTo>
                <a:cubicBezTo>
                  <a:pt x="507896" y="705326"/>
                  <a:pt x="510658" y="707612"/>
                  <a:pt x="509991" y="713899"/>
                </a:cubicBezTo>
                <a:cubicBezTo>
                  <a:pt x="508277" y="731139"/>
                  <a:pt x="506372" y="748284"/>
                  <a:pt x="504467" y="765524"/>
                </a:cubicBezTo>
                <a:close/>
              </a:path>
            </a:pathLst>
          </a:custGeom>
          <a:solidFill>
            <a:srgbClr val="F6CA42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1218453" y="764557"/>
            <a:ext cx="3487800" cy="53289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2898100" y="991700"/>
            <a:ext cx="5754900" cy="47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THE </a:t>
            </a:r>
            <a:r>
              <a:rPr lang="en-US" sz="2500">
                <a:solidFill>
                  <a:schemeClr val="lt1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HISTORY OF DISNEY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243100" y="885800"/>
            <a:ext cx="5064900" cy="6888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18"/>
          <p:cNvCxnSpPr>
            <a:stCxn id="146" idx="3"/>
            <a:endCxn id="147" idx="1"/>
          </p:cNvCxnSpPr>
          <p:nvPr/>
        </p:nvCxnSpPr>
        <p:spPr>
          <a:xfrm flipH="1" rot="10800000">
            <a:off x="3186575" y="5330696"/>
            <a:ext cx="626400" cy="501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18"/>
          <p:cNvCxnSpPr>
            <a:stCxn id="147" idx="3"/>
            <a:endCxn id="149" idx="1"/>
          </p:cNvCxnSpPr>
          <p:nvPr/>
        </p:nvCxnSpPr>
        <p:spPr>
          <a:xfrm flipH="1" rot="10800000">
            <a:off x="5764531" y="4658717"/>
            <a:ext cx="626400" cy="67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18"/>
          <p:cNvCxnSpPr>
            <a:stCxn id="149" idx="3"/>
            <a:endCxn id="151" idx="1"/>
          </p:cNvCxnSpPr>
          <p:nvPr/>
        </p:nvCxnSpPr>
        <p:spPr>
          <a:xfrm flipH="1" rot="10800000">
            <a:off x="8342487" y="3588304"/>
            <a:ext cx="626400" cy="1070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18"/>
          <p:cNvSpPr/>
          <p:nvPr/>
        </p:nvSpPr>
        <p:spPr>
          <a:xfrm>
            <a:off x="1235075" y="5567696"/>
            <a:ext cx="1951500" cy="5280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B460C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1488496" y="5631634"/>
            <a:ext cx="14445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1983 - 1985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356419" y="3617054"/>
            <a:ext cx="1743000" cy="1743000"/>
          </a:xfrm>
          <a:prstGeom prst="ellipse">
            <a:avLst/>
          </a:prstGeom>
          <a:noFill/>
          <a:ln cap="flat" cmpd="sng" w="12700">
            <a:solidFill>
              <a:srgbClr val="B460C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813031" y="5066717"/>
            <a:ext cx="1951500" cy="5280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4051225" y="5130655"/>
            <a:ext cx="14751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1985 - 2006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3917302" y="3116075"/>
            <a:ext cx="1743000" cy="1743000"/>
          </a:xfrm>
          <a:prstGeom prst="ellipse">
            <a:avLst/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390987" y="4394704"/>
            <a:ext cx="1951500" cy="5280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F6CA4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644410" y="4458642"/>
            <a:ext cx="14445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2006 - 2011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6508485" y="2444062"/>
            <a:ext cx="1743000" cy="1743000"/>
          </a:xfrm>
          <a:prstGeom prst="ellipse">
            <a:avLst/>
          </a:prstGeom>
          <a:noFill/>
          <a:ln cap="flat" cmpd="sng" w="12700">
            <a:solidFill>
              <a:srgbClr val="F6CA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8968944" y="3324162"/>
            <a:ext cx="1951500" cy="5280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348C4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9249618" y="3388100"/>
            <a:ext cx="13902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2011 - 2023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9073213" y="1373520"/>
            <a:ext cx="1743000" cy="1743000"/>
          </a:xfrm>
          <a:prstGeom prst="ellipse">
            <a:avLst/>
          </a:prstGeom>
          <a:noFill/>
          <a:ln cap="flat" cmpd="sng" w="12700">
            <a:solidFill>
              <a:srgbClr val="348C4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918" y="3712231"/>
            <a:ext cx="1552500" cy="15525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Text, logo&#10;&#10;Description automatically generated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2477" y="3211252"/>
            <a:ext cx="1552500" cy="15525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0433" y="2539239"/>
            <a:ext cx="1552500" cy="15525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black and white drawing of a castle&#10;&#10;Description automatically generated with low confidence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68390" y="1468697"/>
            <a:ext cx="1552500" cy="1552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5806350" y="1681950"/>
            <a:ext cx="5672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Founded in 1997 as a DVD-by-mail rental service.</a:t>
            </a:r>
            <a:b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Shifted to streaming in 2007, becoming one of the first major platforms to offer on-demand digital video.</a:t>
            </a:r>
            <a:b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Expanded globally starting in 2010, now available in over 190 countries.</a:t>
            </a:r>
            <a:b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Began producing original content in 2013 (starting with </a:t>
            </a:r>
            <a:r>
              <a:rPr i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House of Cards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), transforming it into a major entertainment studio.</a:t>
            </a:r>
            <a:b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Known for its subscription-based, ad-free model, personalized recommendations, and data-driven content strategy.</a:t>
            </a:r>
            <a:b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Became the leading streaming competitor, influencing traditional media companies to launch their own services (like Disney+ and Hulu).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6699750" y="882425"/>
            <a:ext cx="3885900" cy="47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Background of </a:t>
            </a:r>
            <a:r>
              <a:rPr b="1" lang="en-US" sz="25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Netflix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356105" y="776534"/>
            <a:ext cx="4573200" cy="6888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9" title="KPOPD.jpg"/>
          <p:cNvPicPr preferRelativeResize="0"/>
          <p:nvPr/>
        </p:nvPicPr>
        <p:blipFill rotWithShape="1">
          <a:blip r:embed="rId3">
            <a:alphaModFix/>
          </a:blip>
          <a:srcRect b="0" l="19056" r="19050" t="0"/>
          <a:stretch/>
        </p:blipFill>
        <p:spPr>
          <a:xfrm>
            <a:off x="1447800" y="981075"/>
            <a:ext cx="3029100" cy="48942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1218453" y="764557"/>
            <a:ext cx="3487800" cy="53289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235087" y="635250"/>
            <a:ext cx="4519500" cy="47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Disruption and Impact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1208213" y="529356"/>
            <a:ext cx="4573200" cy="6888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444526" y="-596900"/>
            <a:ext cx="6103200" cy="6103200"/>
          </a:xfrm>
          <a:prstGeom prst="ellipse">
            <a:avLst/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sky, day&#10;&#10;Description automatically generated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3700" y="-298450"/>
            <a:ext cx="5505600" cy="55056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3" name="Google Shape;183;p20"/>
          <p:cNvGrpSpPr/>
          <p:nvPr/>
        </p:nvGrpSpPr>
        <p:grpSpPr>
          <a:xfrm>
            <a:off x="1235075" y="1553244"/>
            <a:ext cx="4861055" cy="844466"/>
            <a:chOff x="1235075" y="1741942"/>
            <a:chExt cx="4861055" cy="844466"/>
          </a:xfrm>
        </p:grpSpPr>
        <p:grpSp>
          <p:nvGrpSpPr>
            <p:cNvPr id="184" name="Google Shape;184;p20"/>
            <p:cNvGrpSpPr/>
            <p:nvPr/>
          </p:nvGrpSpPr>
          <p:grpSpPr>
            <a:xfrm>
              <a:off x="1235075" y="1897751"/>
              <a:ext cx="688657" cy="688657"/>
              <a:chOff x="1235075" y="1922754"/>
              <a:chExt cx="688657" cy="688657"/>
            </a:xfrm>
          </p:grpSpPr>
          <p:sp>
            <p:nvSpPr>
              <p:cNvPr id="185" name="Google Shape;185;p20"/>
              <p:cNvSpPr txBox="1"/>
              <p:nvPr/>
            </p:nvSpPr>
            <p:spPr>
              <a:xfrm>
                <a:off x="1315548" y="2030178"/>
                <a:ext cx="527710" cy="4770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01</a:t>
                </a:r>
                <a:endParaRPr/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1235075" y="1922754"/>
                <a:ext cx="688657" cy="688657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F6CA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87" name="Google Shape;187;p20"/>
            <p:cNvSpPr txBox="1"/>
            <p:nvPr/>
          </p:nvSpPr>
          <p:spPr>
            <a:xfrm>
              <a:off x="1923730" y="1741942"/>
              <a:ext cx="41724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Disruption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rise of streaming services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On-demand, no ads, binge model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1235075" y="2732805"/>
            <a:ext cx="4861055" cy="1139100"/>
            <a:chOff x="1235075" y="3034728"/>
            <a:chExt cx="4861055" cy="1139100"/>
          </a:xfrm>
        </p:grpSpPr>
        <p:grpSp>
          <p:nvGrpSpPr>
            <p:cNvPr id="189" name="Google Shape;189;p20"/>
            <p:cNvGrpSpPr/>
            <p:nvPr/>
          </p:nvGrpSpPr>
          <p:grpSpPr>
            <a:xfrm>
              <a:off x="1235075" y="3036649"/>
              <a:ext cx="688657" cy="688657"/>
              <a:chOff x="1235075" y="3076432"/>
              <a:chExt cx="688657" cy="688657"/>
            </a:xfrm>
          </p:grpSpPr>
          <p:sp>
            <p:nvSpPr>
              <p:cNvPr id="190" name="Google Shape;190;p20"/>
              <p:cNvSpPr txBox="1"/>
              <p:nvPr/>
            </p:nvSpPr>
            <p:spPr>
              <a:xfrm>
                <a:off x="1283489" y="3183856"/>
                <a:ext cx="591829" cy="4770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02</a:t>
                </a:r>
                <a:endParaRPr/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>
                <a:off x="1235075" y="3076432"/>
                <a:ext cx="688657" cy="688657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0662A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92" name="Google Shape;192;p20"/>
            <p:cNvSpPr txBox="1"/>
            <p:nvPr/>
          </p:nvSpPr>
          <p:spPr>
            <a:xfrm>
              <a:off x="1923730" y="3034728"/>
              <a:ext cx="4172400" cy="11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Quantify the Impact</a:t>
              </a:r>
              <a:endParaRPr/>
            </a:p>
            <a:p>
              <a:pPr indent="-3175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</a:t>
              </a: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eclining cable subscriptions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Lower theatrical revenues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Shifting consumer attention to digital platforms.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1235075" y="4061275"/>
            <a:ext cx="4861043" cy="923400"/>
            <a:chOff x="1235088" y="4142848"/>
            <a:chExt cx="4861043" cy="923400"/>
          </a:xfrm>
        </p:grpSpPr>
        <p:grpSp>
          <p:nvGrpSpPr>
            <p:cNvPr id="194" name="Google Shape;194;p20"/>
            <p:cNvGrpSpPr/>
            <p:nvPr/>
          </p:nvGrpSpPr>
          <p:grpSpPr>
            <a:xfrm>
              <a:off x="1235088" y="4197097"/>
              <a:ext cx="688800" cy="688800"/>
              <a:chOff x="1235088" y="4251660"/>
              <a:chExt cx="688800" cy="688800"/>
            </a:xfrm>
          </p:grpSpPr>
          <p:sp>
            <p:nvSpPr>
              <p:cNvPr id="195" name="Google Shape;195;p20"/>
              <p:cNvSpPr txBox="1"/>
              <p:nvPr/>
            </p:nvSpPr>
            <p:spPr>
              <a:xfrm>
                <a:off x="1283488" y="4337534"/>
                <a:ext cx="591830" cy="4770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03</a:t>
                </a:r>
                <a:endParaRPr/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1235088" y="4251660"/>
                <a:ext cx="688800" cy="6888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348C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97" name="Google Shape;197;p20"/>
            <p:cNvSpPr txBox="1"/>
            <p:nvPr/>
          </p:nvSpPr>
          <p:spPr>
            <a:xfrm>
              <a:off x="1923730" y="4142848"/>
              <a:ext cx="41724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Qualify the impact</a:t>
              </a:r>
              <a:endParaRPr/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Consumer expectations moved from scheduled programming to convenience, affordability, and content variety.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1235075" y="5227550"/>
            <a:ext cx="8434346" cy="1020600"/>
            <a:chOff x="1235075" y="5250961"/>
            <a:chExt cx="8434346" cy="1020600"/>
          </a:xfrm>
        </p:grpSpPr>
        <p:grpSp>
          <p:nvGrpSpPr>
            <p:cNvPr id="199" name="Google Shape;199;p20"/>
            <p:cNvGrpSpPr/>
            <p:nvPr/>
          </p:nvGrpSpPr>
          <p:grpSpPr>
            <a:xfrm>
              <a:off x="1235075" y="5314445"/>
              <a:ext cx="688657" cy="688657"/>
              <a:chOff x="1235075" y="5383789"/>
              <a:chExt cx="688657" cy="688657"/>
            </a:xfrm>
          </p:grpSpPr>
          <p:sp>
            <p:nvSpPr>
              <p:cNvPr id="200" name="Google Shape;200;p20"/>
              <p:cNvSpPr txBox="1"/>
              <p:nvPr/>
            </p:nvSpPr>
            <p:spPr>
              <a:xfrm>
                <a:off x="1267459" y="5491213"/>
                <a:ext cx="623890" cy="4770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04</a:t>
                </a:r>
                <a:endParaRPr/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1235075" y="5383789"/>
                <a:ext cx="688657" cy="688657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B460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02" name="Google Shape;202;p20"/>
            <p:cNvSpPr txBox="1"/>
            <p:nvPr/>
          </p:nvSpPr>
          <p:spPr>
            <a:xfrm>
              <a:off x="1923721" y="5250961"/>
              <a:ext cx="7745700" cy="10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Disney+ and Hulu</a:t>
              </a:r>
              <a:endParaRPr b="1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Launched in 2019 and became central to Disney’s digital transformation along with Hulu 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Disney+ for family-friendly content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Hulu for more mature programming, which strengthened its streaming system.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 rot="10800000">
            <a:off x="8623249" y="314340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370558" y="2685383"/>
            <a:ext cx="1941300" cy="1941300"/>
          </a:xfrm>
          <a:prstGeom prst="ellipse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125358" y="2685383"/>
            <a:ext cx="1941300" cy="1941300"/>
          </a:xfrm>
          <a:prstGeom prst="ellipse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7895358" y="2685383"/>
            <a:ext cx="1941300" cy="1941300"/>
          </a:xfrm>
          <a:prstGeom prst="ellipse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2770647" y="1095925"/>
            <a:ext cx="6650700" cy="144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Overall </a:t>
            </a:r>
            <a:r>
              <a:rPr b="1" lang="en-US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Subscriber</a:t>
            </a:r>
            <a:r>
              <a:rPr b="1" lang="en-US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Count</a:t>
            </a:r>
            <a:endParaRPr b="1" sz="3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1"/>
          <p:cNvSpPr txBox="1"/>
          <p:nvPr>
            <p:ph idx="1" type="subTitle"/>
          </p:nvPr>
        </p:nvSpPr>
        <p:spPr>
          <a:xfrm>
            <a:off x="2680904" y="4788350"/>
            <a:ext cx="13206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Netflix</a:t>
            </a:r>
            <a:endParaRPr>
              <a:solidFill>
                <a:srgbClr val="FF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15" name="Google Shape;215;p21"/>
          <p:cNvSpPr txBox="1"/>
          <p:nvPr>
            <p:ph idx="4" type="subTitle"/>
          </p:nvPr>
        </p:nvSpPr>
        <p:spPr>
          <a:xfrm>
            <a:off x="5394154" y="4788350"/>
            <a:ext cx="14037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Disney+</a:t>
            </a:r>
            <a:endParaRPr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16" name="Google Shape;216;p21"/>
          <p:cNvSpPr txBox="1"/>
          <p:nvPr>
            <p:ph idx="7" type="subTitle"/>
          </p:nvPr>
        </p:nvSpPr>
        <p:spPr>
          <a:xfrm>
            <a:off x="8379855" y="4788350"/>
            <a:ext cx="972300" cy="52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CE07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Hulu</a:t>
            </a:r>
            <a:endParaRPr>
              <a:solidFill>
                <a:srgbClr val="1CE07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17" name="Google Shape;217;p21"/>
          <p:cNvSpPr txBox="1"/>
          <p:nvPr>
            <p:ph idx="16" type="subTitle"/>
          </p:nvPr>
        </p:nvSpPr>
        <p:spPr>
          <a:xfrm>
            <a:off x="2355358" y="3143398"/>
            <a:ext cx="1941300" cy="102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  <a:t>301.6</a:t>
            </a:r>
            <a:b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  <a:t>Millions</a:t>
            </a:r>
            <a:endParaRPr b="1" sz="2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8" name="Google Shape;218;p21"/>
          <p:cNvSpPr txBox="1"/>
          <p:nvPr>
            <p:ph idx="17" type="subTitle"/>
          </p:nvPr>
        </p:nvSpPr>
        <p:spPr>
          <a:xfrm>
            <a:off x="5107192" y="3143398"/>
            <a:ext cx="1941300" cy="102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  <a:t>131.6</a:t>
            </a:r>
            <a:b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  <a:t>Millions</a:t>
            </a:r>
            <a:endParaRPr b="1" sz="2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9" name="Google Shape;219;p21"/>
          <p:cNvSpPr txBox="1"/>
          <p:nvPr>
            <p:ph idx="18" type="subTitle"/>
          </p:nvPr>
        </p:nvSpPr>
        <p:spPr>
          <a:xfrm>
            <a:off x="7887758" y="3143398"/>
            <a:ext cx="1941300" cy="102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  <a:t>64.1</a:t>
            </a:r>
            <a:b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lang="en-US" sz="2900">
                <a:latin typeface="IBM Plex Sans"/>
                <a:ea typeface="IBM Plex Sans"/>
                <a:cs typeface="IBM Plex Sans"/>
                <a:sym typeface="IBM Plex Sans"/>
              </a:rPr>
              <a:t>Millions</a:t>
            </a:r>
            <a:endParaRPr b="1" sz="29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 rot="10800000">
            <a:off x="9319150" y="3727751"/>
            <a:ext cx="2872852" cy="3125799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-1" y="0"/>
            <a:ext cx="2703336" cy="2791886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1159" y="1202800"/>
            <a:ext cx="4749690" cy="315631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>
            <p:ph type="ctrTitle"/>
          </p:nvPr>
        </p:nvSpPr>
        <p:spPr>
          <a:xfrm>
            <a:off x="1524000" y="4605668"/>
            <a:ext cx="9144000" cy="981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3000"/>
              </a:lnSpc>
              <a:spcBef>
                <a:spcPts val="0"/>
              </a:spcBef>
              <a:spcAft>
                <a:spcPts val="1900"/>
              </a:spcAft>
              <a:buSzPts val="990"/>
              <a:buNone/>
            </a:pPr>
            <a:r>
              <a:rPr lang="en-US" sz="2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Netflix to Acquire Warner Bros. Following the Separation of Discovery Global for a Total Enterprise Value of $82.7 Billion (Equity Value of $72.0 Billion)</a:t>
            </a:r>
            <a:endParaRPr sz="245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23"/>
          <p:cNvGrpSpPr/>
          <p:nvPr/>
        </p:nvGrpSpPr>
        <p:grpSpPr>
          <a:xfrm>
            <a:off x="568300" y="1174575"/>
            <a:ext cx="4674900" cy="4691925"/>
            <a:chOff x="930250" y="1079906"/>
            <a:chExt cx="4674900" cy="4691925"/>
          </a:xfrm>
        </p:grpSpPr>
        <p:grpSp>
          <p:nvGrpSpPr>
            <p:cNvPr id="234" name="Google Shape;234;p23"/>
            <p:cNvGrpSpPr/>
            <p:nvPr/>
          </p:nvGrpSpPr>
          <p:grpSpPr>
            <a:xfrm>
              <a:off x="1152550" y="1079906"/>
              <a:ext cx="4230300" cy="688800"/>
              <a:chOff x="951517" y="1079906"/>
              <a:chExt cx="4230300" cy="688800"/>
            </a:xfrm>
          </p:grpSpPr>
          <p:sp>
            <p:nvSpPr>
              <p:cNvPr id="235" name="Google Shape;235;p23"/>
              <p:cNvSpPr txBox="1"/>
              <p:nvPr/>
            </p:nvSpPr>
            <p:spPr>
              <a:xfrm>
                <a:off x="1056517" y="1201106"/>
                <a:ext cx="4020300" cy="446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3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Competitor Analysis</a:t>
                </a:r>
                <a:endParaRPr sz="1200"/>
              </a:p>
            </p:txBody>
          </p:sp>
          <p:sp>
            <p:nvSpPr>
              <p:cNvPr id="236" name="Google Shape;236;p23"/>
              <p:cNvSpPr/>
              <p:nvPr/>
            </p:nvSpPr>
            <p:spPr>
              <a:xfrm>
                <a:off x="951517" y="1079906"/>
                <a:ext cx="4230300" cy="6888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l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" name="Google Shape;237;p23"/>
            <p:cNvSpPr txBox="1"/>
            <p:nvPr/>
          </p:nvSpPr>
          <p:spPr>
            <a:xfrm>
              <a:off x="930250" y="1865831"/>
              <a:ext cx="4674900" cy="39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Netflix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Market leader with massive global reach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Large library of original content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Lacks family-focused identity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Amazon Prime Video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Bundled with Amazon Prime for added value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Strong budget for originals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Less focused on pure entertainment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Max (HBO)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Known for premium, adult-oriented content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Smaller library compared to Disney+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Targets older audiences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8" name="Google Shape;238;p23"/>
          <p:cNvGrpSpPr/>
          <p:nvPr/>
        </p:nvGrpSpPr>
        <p:grpSpPr>
          <a:xfrm>
            <a:off x="5586406" y="2660378"/>
            <a:ext cx="5969548" cy="1720297"/>
            <a:chOff x="5245398" y="2611291"/>
            <a:chExt cx="5675015" cy="1635419"/>
          </a:xfrm>
        </p:grpSpPr>
        <p:sp>
          <p:nvSpPr>
            <p:cNvPr id="239" name="Google Shape;239;p23"/>
            <p:cNvSpPr/>
            <p:nvPr/>
          </p:nvSpPr>
          <p:spPr>
            <a:xfrm>
              <a:off x="5245398" y="2611291"/>
              <a:ext cx="2722481" cy="1635419"/>
            </a:xfrm>
            <a:prstGeom prst="rect">
              <a:avLst/>
            </a:prstGeom>
            <a:noFill/>
            <a:ln cap="flat" cmpd="sng" w="13350">
              <a:solidFill>
                <a:srgbClr val="F6CA4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3434" rotWithShape="0" algn="l" dist="40076">
                <a:srgbClr val="000000">
                  <a:alpha val="40000"/>
                </a:srgbClr>
              </a:outerShdw>
            </a:effectLst>
          </p:spPr>
          <p:txBody>
            <a:bodyPr anchorCtr="0" anchor="ctr" bIns="48075" lIns="96175" spcFirstLastPara="1" rIns="96175" wrap="square" tIns="48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8197932" y="2611291"/>
              <a:ext cx="2722481" cy="1635419"/>
            </a:xfrm>
            <a:prstGeom prst="rect">
              <a:avLst/>
            </a:prstGeom>
            <a:noFill/>
            <a:ln cap="flat" cmpd="sng" w="13350">
              <a:solidFill>
                <a:srgbClr val="B460CE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3434" rotWithShape="0" algn="l" dist="40076">
                <a:srgbClr val="000000">
                  <a:alpha val="40000"/>
                </a:srgbClr>
              </a:outerShdw>
            </a:effectLst>
          </p:spPr>
          <p:txBody>
            <a:bodyPr anchorCtr="0" anchor="ctr" bIns="48075" lIns="96175" spcFirstLastPara="1" rIns="96175" wrap="square" tIns="480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9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1" name="Google Shape;241;p23" title="netflix-rivals-streaming-wars-PAGE-2019.jpg"/>
            <p:cNvPicPr preferRelativeResize="0"/>
            <p:nvPr/>
          </p:nvPicPr>
          <p:blipFill rotWithShape="1">
            <a:blip r:embed="rId3">
              <a:alphaModFix/>
            </a:blip>
            <a:srcRect b="0" l="6430" r="6438" t="0"/>
            <a:stretch/>
          </p:blipFill>
          <p:spPr>
            <a:xfrm>
              <a:off x="5354626" y="2710545"/>
              <a:ext cx="2504024" cy="1436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3" title="Netlfix-logo-Sad-Mickey-Mouse.jpeg"/>
            <p:cNvPicPr preferRelativeResize="0"/>
            <p:nvPr/>
          </p:nvPicPr>
          <p:blipFill rotWithShape="1">
            <a:blip r:embed="rId4">
              <a:alphaModFix/>
            </a:blip>
            <a:srcRect b="0" l="6430" r="6438" t="0"/>
            <a:stretch/>
          </p:blipFill>
          <p:spPr>
            <a:xfrm>
              <a:off x="8307160" y="2710545"/>
              <a:ext cx="2504024" cy="1436910"/>
            </a:xfrm>
            <a:custGeom>
              <a:rect b="b" l="l" r="r" t="t"/>
              <a:pathLst>
                <a:path extrusionOk="0" h="1436910" w="2504024">
                  <a:moveTo>
                    <a:pt x="0" y="0"/>
                  </a:moveTo>
                  <a:lnTo>
                    <a:pt x="2504024" y="0"/>
                  </a:lnTo>
                  <a:lnTo>
                    <a:pt x="2504024" y="1436910"/>
                  </a:lnTo>
                  <a:lnTo>
                    <a:pt x="0" y="143691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p24"/>
          <p:cNvGrpSpPr/>
          <p:nvPr/>
        </p:nvGrpSpPr>
        <p:grpSpPr>
          <a:xfrm>
            <a:off x="7278425" y="1406150"/>
            <a:ext cx="4480800" cy="4179200"/>
            <a:chOff x="7640375" y="1340806"/>
            <a:chExt cx="4480800" cy="4179200"/>
          </a:xfrm>
        </p:grpSpPr>
        <p:grpSp>
          <p:nvGrpSpPr>
            <p:cNvPr id="249" name="Google Shape;249;p24"/>
            <p:cNvGrpSpPr/>
            <p:nvPr/>
          </p:nvGrpSpPr>
          <p:grpSpPr>
            <a:xfrm>
              <a:off x="7640375" y="1340806"/>
              <a:ext cx="4138500" cy="861900"/>
              <a:chOff x="7439342" y="1340806"/>
              <a:chExt cx="4138500" cy="861900"/>
            </a:xfrm>
          </p:grpSpPr>
          <p:sp>
            <p:nvSpPr>
              <p:cNvPr id="250" name="Google Shape;250;p24"/>
              <p:cNvSpPr txBox="1"/>
              <p:nvPr/>
            </p:nvSpPr>
            <p:spPr>
              <a:xfrm>
                <a:off x="7439342" y="1340806"/>
                <a:ext cx="4138500" cy="8619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Competitor </a:t>
                </a: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Analysis</a:t>
                </a: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Cont.</a:t>
                </a:r>
                <a:endParaRPr/>
              </a:p>
            </p:txBody>
          </p:sp>
          <p:sp>
            <p:nvSpPr>
              <p:cNvPr id="251" name="Google Shape;251;p24"/>
              <p:cNvSpPr/>
              <p:nvPr/>
            </p:nvSpPr>
            <p:spPr>
              <a:xfrm>
                <a:off x="7648842" y="1340806"/>
                <a:ext cx="3797700" cy="8619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l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2" name="Google Shape;252;p24"/>
            <p:cNvSpPr txBox="1"/>
            <p:nvPr/>
          </p:nvSpPr>
          <p:spPr>
            <a:xfrm>
              <a:off x="7640375" y="2338806"/>
              <a:ext cx="4480800" cy="31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0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Apple TV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0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High-quality, award-winning originals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Premium brand reputation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Limited content for families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Disney+ Competitive Advantages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0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Exclusive, iconic franchises (Marvel, Pixar, Star Wars)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Trusted, family-friendly brand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</a:pP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Integrated ecosystem across streaming, parks, and merchandise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53" name="Google Shape;253;p24"/>
          <p:cNvGrpSpPr/>
          <p:nvPr/>
        </p:nvGrpSpPr>
        <p:grpSpPr>
          <a:xfrm>
            <a:off x="949298" y="783993"/>
            <a:ext cx="5675034" cy="5290019"/>
            <a:chOff x="5245398" y="783931"/>
            <a:chExt cx="5675034" cy="5290019"/>
          </a:xfrm>
        </p:grpSpPr>
        <p:sp>
          <p:nvSpPr>
            <p:cNvPr id="254" name="Google Shape;254;p24"/>
            <p:cNvSpPr/>
            <p:nvPr/>
          </p:nvSpPr>
          <p:spPr>
            <a:xfrm>
              <a:off x="5245398" y="783931"/>
              <a:ext cx="2722500" cy="1635300"/>
            </a:xfrm>
            <a:prstGeom prst="rect">
              <a:avLst/>
            </a:prstGeom>
            <a:noFill/>
            <a:ln cap="flat" cmpd="sng" w="12700">
              <a:solidFill>
                <a:srgbClr val="0662A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5245398" y="2611291"/>
              <a:ext cx="2722500" cy="1635300"/>
            </a:xfrm>
            <a:prstGeom prst="rect">
              <a:avLst/>
            </a:prstGeom>
            <a:noFill/>
            <a:ln cap="flat" cmpd="sng" w="12700">
              <a:solidFill>
                <a:srgbClr val="F6CA4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5245398" y="4438650"/>
              <a:ext cx="2722500" cy="1635300"/>
            </a:xfrm>
            <a:prstGeom prst="rect">
              <a:avLst/>
            </a:prstGeom>
            <a:noFill/>
            <a:ln cap="flat" cmpd="sng" w="12700">
              <a:solidFill>
                <a:srgbClr val="348C4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8197932" y="783931"/>
              <a:ext cx="2722500" cy="1635300"/>
            </a:xfrm>
            <a:prstGeom prst="rect">
              <a:avLst/>
            </a:prstGeom>
            <a:noFill/>
            <a:ln cap="flat" cmpd="sng" w="12700">
              <a:solidFill>
                <a:srgbClr val="66FF3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8197932" y="2611291"/>
              <a:ext cx="2722500" cy="1635300"/>
            </a:xfrm>
            <a:prstGeom prst="rect">
              <a:avLst/>
            </a:prstGeom>
            <a:noFill/>
            <a:ln cap="flat" cmpd="sng" w="12700">
              <a:solidFill>
                <a:srgbClr val="B460CE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8197932" y="4438650"/>
              <a:ext cx="2722500" cy="1635300"/>
            </a:xfrm>
            <a:prstGeom prst="rect">
              <a:avLst/>
            </a:prstGeom>
            <a:noFill/>
            <a:ln cap="flat" cmpd="sng" w="12700">
              <a:solidFill>
                <a:srgbClr val="0662A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text, linedrawing&#10;&#10;Description automatically generated" id="260" name="Google Shape;26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07160" y="883185"/>
              <a:ext cx="2504024" cy="1436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, linedrawing&#10;&#10;Description automatically generated" id="261" name="Google Shape;261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54626" y="2710545"/>
              <a:ext cx="2504024" cy="1436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, linedrawing&#10;&#10;Description automatically generated" id="262" name="Google Shape;262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07160" y="2710545"/>
              <a:ext cx="2504024" cy="1436910"/>
            </a:xfrm>
            <a:custGeom>
              <a:rect b="b" l="l" r="r" t="t"/>
              <a:pathLst>
                <a:path extrusionOk="0" h="1436910" w="2504024">
                  <a:moveTo>
                    <a:pt x="0" y="0"/>
                  </a:moveTo>
                  <a:lnTo>
                    <a:pt x="2504024" y="0"/>
                  </a:lnTo>
                  <a:lnTo>
                    <a:pt x="2504024" y="1436910"/>
                  </a:lnTo>
                  <a:lnTo>
                    <a:pt x="0" y="143691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descr="A picture containing text, linedrawing&#10;&#10;Description automatically generated" id="263" name="Google Shape;263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54626" y="4537000"/>
              <a:ext cx="2504024" cy="1436910"/>
            </a:xfrm>
            <a:custGeom>
              <a:rect b="b" l="l" r="r" t="t"/>
              <a:pathLst>
                <a:path extrusionOk="0" h="1436910" w="2504024">
                  <a:moveTo>
                    <a:pt x="0" y="0"/>
                  </a:moveTo>
                  <a:lnTo>
                    <a:pt x="2504024" y="0"/>
                  </a:lnTo>
                  <a:lnTo>
                    <a:pt x="2504024" y="1436910"/>
                  </a:lnTo>
                  <a:lnTo>
                    <a:pt x="0" y="143691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descr="A picture containing text, linedrawing&#10;&#10;Description automatically generated" id="264" name="Google Shape;264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07160" y="4537000"/>
              <a:ext cx="2504024" cy="1436910"/>
            </a:xfrm>
            <a:custGeom>
              <a:rect b="b" l="l" r="r" t="t"/>
              <a:pathLst>
                <a:path extrusionOk="0" h="1436910" w="2504024">
                  <a:moveTo>
                    <a:pt x="0" y="0"/>
                  </a:moveTo>
                  <a:lnTo>
                    <a:pt x="2504024" y="0"/>
                  </a:lnTo>
                  <a:lnTo>
                    <a:pt x="2504024" y="1436910"/>
                  </a:lnTo>
                  <a:lnTo>
                    <a:pt x="0" y="143691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descr="A picture containing text, linedrawing&#10;&#10;Description automatically generated" id="265" name="Google Shape;265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354626" y="883185"/>
              <a:ext cx="2504024" cy="14369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2424918" y="607449"/>
            <a:ext cx="1332900" cy="47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5Cs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2252350" y="501550"/>
            <a:ext cx="1609800" cy="6888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7397026" y="377400"/>
            <a:ext cx="6103200" cy="6103200"/>
          </a:xfrm>
          <a:prstGeom prst="ellipse">
            <a:avLst/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5" title="3.png"/>
          <p:cNvPicPr preferRelativeResize="0"/>
          <p:nvPr/>
        </p:nvPicPr>
        <p:blipFill rotWithShape="1">
          <a:blip r:embed="rId3">
            <a:alphaModFix/>
          </a:blip>
          <a:srcRect b="0" l="11947" r="11954" t="0"/>
          <a:stretch/>
        </p:blipFill>
        <p:spPr>
          <a:xfrm>
            <a:off x="7695825" y="676200"/>
            <a:ext cx="5505600" cy="55056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75" name="Google Shape;275;p25"/>
          <p:cNvGrpSpPr/>
          <p:nvPr/>
        </p:nvGrpSpPr>
        <p:grpSpPr>
          <a:xfrm>
            <a:off x="508724" y="1616536"/>
            <a:ext cx="7124993" cy="477075"/>
            <a:chOff x="1315557" y="2211263"/>
            <a:chExt cx="7124993" cy="1064425"/>
          </a:xfrm>
        </p:grpSpPr>
        <p:grpSp>
          <p:nvGrpSpPr>
            <p:cNvPr id="276" name="Google Shape;276;p25"/>
            <p:cNvGrpSpPr/>
            <p:nvPr/>
          </p:nvGrpSpPr>
          <p:grpSpPr>
            <a:xfrm>
              <a:off x="1315557" y="2211263"/>
              <a:ext cx="2264101" cy="1064425"/>
              <a:chOff x="1315557" y="2236266"/>
              <a:chExt cx="2264101" cy="1064425"/>
            </a:xfrm>
          </p:grpSpPr>
          <p:sp>
            <p:nvSpPr>
              <p:cNvPr id="277" name="Google Shape;277;p25"/>
              <p:cNvSpPr txBox="1"/>
              <p:nvPr/>
            </p:nvSpPr>
            <p:spPr>
              <a:xfrm>
                <a:off x="1315557" y="2236291"/>
                <a:ext cx="2264100" cy="1064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Company</a:t>
                </a:r>
                <a:endParaRPr/>
              </a:p>
            </p:txBody>
          </p:sp>
          <p:sp>
            <p:nvSpPr>
              <p:cNvPr id="278" name="Google Shape;278;p25"/>
              <p:cNvSpPr/>
              <p:nvPr/>
            </p:nvSpPr>
            <p:spPr>
              <a:xfrm>
                <a:off x="1315558" y="2236266"/>
                <a:ext cx="2264100" cy="10644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F6CA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79" name="Google Shape;279;p25"/>
            <p:cNvSpPr txBox="1"/>
            <p:nvPr/>
          </p:nvSpPr>
          <p:spPr>
            <a:xfrm>
              <a:off x="3579650" y="2365795"/>
              <a:ext cx="4860900" cy="75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strong IP, legacy, theme parks, global reach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0" name="Google Shape;280;p25"/>
          <p:cNvGrpSpPr/>
          <p:nvPr/>
        </p:nvGrpSpPr>
        <p:grpSpPr>
          <a:xfrm>
            <a:off x="508724" y="2604072"/>
            <a:ext cx="7124993" cy="498678"/>
            <a:chOff x="1315557" y="2211288"/>
            <a:chExt cx="7124993" cy="1112624"/>
          </a:xfrm>
        </p:grpSpPr>
        <p:grpSp>
          <p:nvGrpSpPr>
            <p:cNvPr id="281" name="Google Shape;281;p25"/>
            <p:cNvGrpSpPr/>
            <p:nvPr/>
          </p:nvGrpSpPr>
          <p:grpSpPr>
            <a:xfrm>
              <a:off x="1315557" y="2211288"/>
              <a:ext cx="2264101" cy="1112624"/>
              <a:chOff x="1315557" y="2236291"/>
              <a:chExt cx="2264101" cy="1112624"/>
            </a:xfrm>
          </p:grpSpPr>
          <p:sp>
            <p:nvSpPr>
              <p:cNvPr id="282" name="Google Shape;282;p25"/>
              <p:cNvSpPr txBox="1"/>
              <p:nvPr/>
            </p:nvSpPr>
            <p:spPr>
              <a:xfrm>
                <a:off x="1315557" y="2236291"/>
                <a:ext cx="2264100" cy="1064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Customers</a:t>
                </a:r>
                <a:endParaRPr/>
              </a:p>
            </p:txBody>
          </p:sp>
          <p:sp>
            <p:nvSpPr>
              <p:cNvPr id="283" name="Google Shape;283;p25"/>
              <p:cNvSpPr/>
              <p:nvPr/>
            </p:nvSpPr>
            <p:spPr>
              <a:xfrm>
                <a:off x="1315558" y="2284515"/>
                <a:ext cx="2264100" cy="10644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F6CA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84" name="Google Shape;284;p25"/>
            <p:cNvSpPr txBox="1"/>
            <p:nvPr/>
          </p:nvSpPr>
          <p:spPr>
            <a:xfrm>
              <a:off x="3579650" y="2365795"/>
              <a:ext cx="4860900" cy="75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families, young adults, global viewers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85" name="Google Shape;285;p25"/>
          <p:cNvGrpSpPr/>
          <p:nvPr/>
        </p:nvGrpSpPr>
        <p:grpSpPr>
          <a:xfrm>
            <a:off x="508724" y="5325136"/>
            <a:ext cx="8449803" cy="731076"/>
            <a:chOff x="1315557" y="2211263"/>
            <a:chExt cx="8449803" cy="1631138"/>
          </a:xfrm>
        </p:grpSpPr>
        <p:grpSp>
          <p:nvGrpSpPr>
            <p:cNvPr id="286" name="Google Shape;286;p25"/>
            <p:cNvGrpSpPr/>
            <p:nvPr/>
          </p:nvGrpSpPr>
          <p:grpSpPr>
            <a:xfrm>
              <a:off x="1315557" y="2211263"/>
              <a:ext cx="2264101" cy="1064425"/>
              <a:chOff x="1315557" y="2236266"/>
              <a:chExt cx="2264101" cy="1064425"/>
            </a:xfrm>
          </p:grpSpPr>
          <p:sp>
            <p:nvSpPr>
              <p:cNvPr id="287" name="Google Shape;287;p25"/>
              <p:cNvSpPr txBox="1"/>
              <p:nvPr/>
            </p:nvSpPr>
            <p:spPr>
              <a:xfrm>
                <a:off x="1315557" y="2236291"/>
                <a:ext cx="2264100" cy="1064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Context</a:t>
                </a:r>
                <a:endParaRPr/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1315558" y="2236266"/>
                <a:ext cx="2264100" cy="10644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F6CA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89" name="Google Shape;289;p25"/>
            <p:cNvSpPr txBox="1"/>
            <p:nvPr/>
          </p:nvSpPr>
          <p:spPr>
            <a:xfrm>
              <a:off x="3579660" y="2365801"/>
              <a:ext cx="6185700" cy="14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changing digital behavior, tech-driven market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90" name="Google Shape;290;p25"/>
          <p:cNvGrpSpPr/>
          <p:nvPr/>
        </p:nvGrpSpPr>
        <p:grpSpPr>
          <a:xfrm>
            <a:off x="508725" y="4437287"/>
            <a:ext cx="7205705" cy="477064"/>
            <a:chOff x="1315558" y="2203290"/>
            <a:chExt cx="7205705" cy="1064400"/>
          </a:xfrm>
        </p:grpSpPr>
        <p:grpSp>
          <p:nvGrpSpPr>
            <p:cNvPr id="291" name="Google Shape;291;p25"/>
            <p:cNvGrpSpPr/>
            <p:nvPr/>
          </p:nvGrpSpPr>
          <p:grpSpPr>
            <a:xfrm>
              <a:off x="1315558" y="2203290"/>
              <a:ext cx="2425500" cy="1064400"/>
              <a:chOff x="1315558" y="2228293"/>
              <a:chExt cx="2425500" cy="1064400"/>
            </a:xfrm>
          </p:grpSpPr>
          <p:sp>
            <p:nvSpPr>
              <p:cNvPr id="292" name="Google Shape;292;p25"/>
              <p:cNvSpPr txBox="1"/>
              <p:nvPr/>
            </p:nvSpPr>
            <p:spPr>
              <a:xfrm>
                <a:off x="1315558" y="2236297"/>
                <a:ext cx="2425500" cy="9957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3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Collaborators</a:t>
                </a:r>
                <a:endParaRPr sz="1200"/>
              </a:p>
            </p:txBody>
          </p:sp>
          <p:sp>
            <p:nvSpPr>
              <p:cNvPr id="293" name="Google Shape;293;p25"/>
              <p:cNvSpPr/>
              <p:nvPr/>
            </p:nvSpPr>
            <p:spPr>
              <a:xfrm>
                <a:off x="1315558" y="2228293"/>
                <a:ext cx="2344800" cy="10644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F6CA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94" name="Google Shape;294;p25"/>
            <p:cNvSpPr txBox="1"/>
            <p:nvPr/>
          </p:nvSpPr>
          <p:spPr>
            <a:xfrm>
              <a:off x="3660363" y="2357819"/>
              <a:ext cx="4860900" cy="75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Pixar, Marvel, ESPN, etc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95" name="Google Shape;295;p25"/>
          <p:cNvGrpSpPr/>
          <p:nvPr/>
        </p:nvGrpSpPr>
        <p:grpSpPr>
          <a:xfrm>
            <a:off x="508724" y="3533261"/>
            <a:ext cx="7124993" cy="493275"/>
            <a:chOff x="1315557" y="2175119"/>
            <a:chExt cx="7124993" cy="1100570"/>
          </a:xfrm>
        </p:grpSpPr>
        <p:grpSp>
          <p:nvGrpSpPr>
            <p:cNvPr id="296" name="Google Shape;296;p25"/>
            <p:cNvGrpSpPr/>
            <p:nvPr/>
          </p:nvGrpSpPr>
          <p:grpSpPr>
            <a:xfrm>
              <a:off x="1315557" y="2175119"/>
              <a:ext cx="2264101" cy="1100570"/>
              <a:chOff x="1315557" y="2200122"/>
              <a:chExt cx="2264101" cy="1100570"/>
            </a:xfrm>
          </p:grpSpPr>
          <p:sp>
            <p:nvSpPr>
              <p:cNvPr id="297" name="Google Shape;297;p25"/>
              <p:cNvSpPr txBox="1"/>
              <p:nvPr/>
            </p:nvSpPr>
            <p:spPr>
              <a:xfrm>
                <a:off x="1315557" y="2236291"/>
                <a:ext cx="2264100" cy="10644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Competitors</a:t>
                </a:r>
                <a:endParaRPr/>
              </a:p>
            </p:txBody>
          </p:sp>
          <p:sp>
            <p:nvSpPr>
              <p:cNvPr id="298" name="Google Shape;298;p25"/>
              <p:cNvSpPr/>
              <p:nvPr/>
            </p:nvSpPr>
            <p:spPr>
              <a:xfrm>
                <a:off x="1315558" y="2200122"/>
                <a:ext cx="2264100" cy="10644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F6CA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99" name="Google Shape;299;p25"/>
            <p:cNvSpPr txBox="1"/>
            <p:nvPr/>
          </p:nvSpPr>
          <p:spPr>
            <a:xfrm>
              <a:off x="3579650" y="2365795"/>
              <a:ext cx="4860900" cy="75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Netflix, Amazon, hulu, etc.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/>
          <p:nvPr/>
        </p:nvSpPr>
        <p:spPr>
          <a:xfrm>
            <a:off x="-1241601" y="377387"/>
            <a:ext cx="6103200" cy="6103200"/>
          </a:xfrm>
          <a:prstGeom prst="ellipse">
            <a:avLst/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sunset, outdoor, nature, sun&#10;&#10;Description automatically generated" id="305" name="Google Shape;3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43089" y="675900"/>
            <a:ext cx="5506200" cy="5506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5260500" y="1497300"/>
            <a:ext cx="67236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PESTLE: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olitical: regulations on content and data privacy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conomic: inflation, changing consumer spending on subscriptions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ocial: shift toward personalized, mobile entertainment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echnological: AI-based recommendations, streaming innovations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egal: copyright, licensing, global IP issues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nvironmental: sustainable production practices (bonus if relevant)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3787500" y="165775"/>
            <a:ext cx="840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Market Assessment for Disney </a:t>
            </a:r>
            <a:endParaRPr b="1"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/>
          <p:nvPr/>
        </p:nvSpPr>
        <p:spPr>
          <a:xfrm>
            <a:off x="-1241601" y="377387"/>
            <a:ext cx="6103200" cy="6103200"/>
          </a:xfrm>
          <a:prstGeom prst="ellipse">
            <a:avLst/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27" title="1.jfif"/>
          <p:cNvPicPr preferRelativeResize="0"/>
          <p:nvPr/>
        </p:nvPicPr>
        <p:blipFill rotWithShape="1">
          <a:blip r:embed="rId3">
            <a:alphaModFix/>
          </a:blip>
          <a:srcRect b="670" l="0" r="0" t="661"/>
          <a:stretch/>
        </p:blipFill>
        <p:spPr>
          <a:xfrm>
            <a:off x="-943089" y="675900"/>
            <a:ext cx="5506200" cy="5506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4" name="Google Shape;314;p27"/>
          <p:cNvSpPr txBox="1"/>
          <p:nvPr/>
        </p:nvSpPr>
        <p:spPr>
          <a:xfrm>
            <a:off x="5260475" y="1820550"/>
            <a:ext cx="67236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 Forces: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Competitive rivalry or competition: Strong force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Bargaining power of buyers or customers: Strong force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Bargaining power of suppliers: Weak force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Threat of substitutes or substitution: Moderate force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Threat of new entrants or new entry: Weak force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3787500" y="165775"/>
            <a:ext cx="840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Market Assessment for Disney </a:t>
            </a:r>
            <a:endParaRPr b="1"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"/>
          <p:cNvSpPr/>
          <p:nvPr/>
        </p:nvSpPr>
        <p:spPr>
          <a:xfrm>
            <a:off x="1380850" y="2700900"/>
            <a:ext cx="1710900" cy="6717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B460C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4053001" y="237348"/>
            <a:ext cx="4086000" cy="478500"/>
          </a:xfrm>
          <a:prstGeom prst="rect">
            <a:avLst/>
          </a:prstGeom>
          <a:noFill/>
          <a:ln>
            <a:noFill/>
          </a:ln>
          <a:effectLst>
            <a:outerShdw blurRad="50955" rotWithShape="0" algn="tl" dir="2700000" dist="38216">
              <a:srgbClr val="000000">
                <a:alpha val="40000"/>
              </a:srgbClr>
            </a:outerShdw>
          </a:effectLst>
        </p:spPr>
        <p:txBody>
          <a:bodyPr anchorCtr="0" anchor="t" bIns="45850" lIns="91700" spcFirstLastPara="1" rIns="91700" wrap="square" tIns="45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SWOT ANALYSIS</a:t>
            </a:r>
            <a:endParaRPr sz="1404"/>
          </a:p>
        </p:txBody>
      </p:sp>
      <p:grpSp>
        <p:nvGrpSpPr>
          <p:cNvPr id="322" name="Google Shape;322;p28"/>
          <p:cNvGrpSpPr/>
          <p:nvPr/>
        </p:nvGrpSpPr>
        <p:grpSpPr>
          <a:xfrm>
            <a:off x="1374527" y="953173"/>
            <a:ext cx="1710871" cy="1575370"/>
            <a:chOff x="1411514" y="2642608"/>
            <a:chExt cx="1710871" cy="1710871"/>
          </a:xfrm>
        </p:grpSpPr>
        <p:sp>
          <p:nvSpPr>
            <p:cNvPr id="323" name="Google Shape;323;p28"/>
            <p:cNvSpPr/>
            <p:nvPr/>
          </p:nvSpPr>
          <p:spPr>
            <a:xfrm>
              <a:off x="1411514" y="2642608"/>
              <a:ext cx="1710871" cy="1710871"/>
            </a:xfrm>
            <a:custGeom>
              <a:rect b="b" l="l" r="r" t="t"/>
              <a:pathLst>
                <a:path extrusionOk="0" h="1710871" w="1710871">
                  <a:moveTo>
                    <a:pt x="1710872" y="855436"/>
                  </a:moveTo>
                  <a:cubicBezTo>
                    <a:pt x="1710872" y="1327880"/>
                    <a:pt x="1327880" y="1710872"/>
                    <a:pt x="855436" y="1710872"/>
                  </a:cubicBezTo>
                  <a:cubicBezTo>
                    <a:pt x="382992" y="1710872"/>
                    <a:pt x="0" y="1327880"/>
                    <a:pt x="0" y="855436"/>
                  </a:cubicBezTo>
                  <a:cubicBezTo>
                    <a:pt x="0" y="382992"/>
                    <a:pt x="382992" y="0"/>
                    <a:pt x="855436" y="0"/>
                  </a:cubicBezTo>
                  <a:cubicBezTo>
                    <a:pt x="1327880" y="0"/>
                    <a:pt x="1710872" y="382992"/>
                    <a:pt x="1710872" y="85543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B460CE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1491826" y="2722920"/>
              <a:ext cx="1550246" cy="1550246"/>
            </a:xfrm>
            <a:custGeom>
              <a:rect b="b" l="l" r="r" t="t"/>
              <a:pathLst>
                <a:path extrusionOk="0" h="1550246" w="1550246">
                  <a:moveTo>
                    <a:pt x="1550247" y="775123"/>
                  </a:moveTo>
                  <a:cubicBezTo>
                    <a:pt x="1550247" y="1203212"/>
                    <a:pt x="1203212" y="1550247"/>
                    <a:pt x="775123" y="1550247"/>
                  </a:cubicBezTo>
                  <a:cubicBezTo>
                    <a:pt x="347035" y="1550247"/>
                    <a:pt x="0" y="1203212"/>
                    <a:pt x="0" y="775123"/>
                  </a:cubicBezTo>
                  <a:cubicBezTo>
                    <a:pt x="0" y="347035"/>
                    <a:pt x="347035" y="0"/>
                    <a:pt x="775123" y="0"/>
                  </a:cubicBezTo>
                  <a:cubicBezTo>
                    <a:pt x="1203212" y="0"/>
                    <a:pt x="1550247" y="347035"/>
                    <a:pt x="1550247" y="775123"/>
                  </a:cubicBezTo>
                  <a:close/>
                </a:path>
              </a:pathLst>
            </a:custGeom>
            <a:gradFill>
              <a:gsLst>
                <a:gs pos="0">
                  <a:srgbClr val="B460CE"/>
                </a:gs>
                <a:gs pos="100000">
                  <a:srgbClr val="833897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28"/>
          <p:cNvGrpSpPr/>
          <p:nvPr/>
        </p:nvGrpSpPr>
        <p:grpSpPr>
          <a:xfrm>
            <a:off x="3929344" y="953173"/>
            <a:ext cx="1710871" cy="1575370"/>
            <a:chOff x="3966331" y="2642608"/>
            <a:chExt cx="1710871" cy="1710871"/>
          </a:xfrm>
        </p:grpSpPr>
        <p:sp>
          <p:nvSpPr>
            <p:cNvPr id="326" name="Google Shape;326;p28"/>
            <p:cNvSpPr/>
            <p:nvPr/>
          </p:nvSpPr>
          <p:spPr>
            <a:xfrm>
              <a:off x="3966331" y="2642608"/>
              <a:ext cx="1710871" cy="1710871"/>
            </a:xfrm>
            <a:custGeom>
              <a:rect b="b" l="l" r="r" t="t"/>
              <a:pathLst>
                <a:path extrusionOk="0" h="1710871" w="1710871">
                  <a:moveTo>
                    <a:pt x="1710872" y="855436"/>
                  </a:moveTo>
                  <a:cubicBezTo>
                    <a:pt x="1710872" y="1327880"/>
                    <a:pt x="1327880" y="1710872"/>
                    <a:pt x="855436" y="1710872"/>
                  </a:cubicBezTo>
                  <a:cubicBezTo>
                    <a:pt x="382992" y="1710872"/>
                    <a:pt x="0" y="1327880"/>
                    <a:pt x="0" y="855436"/>
                  </a:cubicBezTo>
                  <a:cubicBezTo>
                    <a:pt x="0" y="382992"/>
                    <a:pt x="382992" y="0"/>
                    <a:pt x="855436" y="0"/>
                  </a:cubicBezTo>
                  <a:cubicBezTo>
                    <a:pt x="1327880" y="0"/>
                    <a:pt x="1710872" y="382992"/>
                    <a:pt x="1710872" y="85543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0662A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4046643" y="2722920"/>
              <a:ext cx="1550246" cy="1550246"/>
            </a:xfrm>
            <a:custGeom>
              <a:rect b="b" l="l" r="r" t="t"/>
              <a:pathLst>
                <a:path extrusionOk="0" h="1550246" w="1550246">
                  <a:moveTo>
                    <a:pt x="1550247" y="775123"/>
                  </a:moveTo>
                  <a:cubicBezTo>
                    <a:pt x="1550247" y="1203212"/>
                    <a:pt x="1203212" y="1550247"/>
                    <a:pt x="775123" y="1550247"/>
                  </a:cubicBezTo>
                  <a:cubicBezTo>
                    <a:pt x="347035" y="1550247"/>
                    <a:pt x="0" y="1203212"/>
                    <a:pt x="0" y="775123"/>
                  </a:cubicBezTo>
                  <a:cubicBezTo>
                    <a:pt x="0" y="347035"/>
                    <a:pt x="347035" y="0"/>
                    <a:pt x="775123" y="0"/>
                  </a:cubicBezTo>
                  <a:cubicBezTo>
                    <a:pt x="1203212" y="0"/>
                    <a:pt x="1550247" y="347035"/>
                    <a:pt x="1550247" y="775123"/>
                  </a:cubicBezTo>
                  <a:close/>
                </a:path>
              </a:pathLst>
            </a:custGeom>
            <a:gradFill>
              <a:gsLst>
                <a:gs pos="0">
                  <a:srgbClr val="0662AF"/>
                </a:gs>
                <a:gs pos="100000">
                  <a:srgbClr val="044072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28"/>
          <p:cNvGrpSpPr/>
          <p:nvPr/>
        </p:nvGrpSpPr>
        <p:grpSpPr>
          <a:xfrm>
            <a:off x="6477811" y="953173"/>
            <a:ext cx="1710871" cy="1575370"/>
            <a:chOff x="6514798" y="2642608"/>
            <a:chExt cx="1710871" cy="1710871"/>
          </a:xfrm>
        </p:grpSpPr>
        <p:sp>
          <p:nvSpPr>
            <p:cNvPr id="329" name="Google Shape;329;p28"/>
            <p:cNvSpPr/>
            <p:nvPr/>
          </p:nvSpPr>
          <p:spPr>
            <a:xfrm>
              <a:off x="6514798" y="2642608"/>
              <a:ext cx="1710871" cy="1710871"/>
            </a:xfrm>
            <a:custGeom>
              <a:rect b="b" l="l" r="r" t="t"/>
              <a:pathLst>
                <a:path extrusionOk="0" h="1710871" w="1710871">
                  <a:moveTo>
                    <a:pt x="1710872" y="855436"/>
                  </a:moveTo>
                  <a:cubicBezTo>
                    <a:pt x="1710872" y="1327880"/>
                    <a:pt x="1327880" y="1710872"/>
                    <a:pt x="855436" y="1710872"/>
                  </a:cubicBezTo>
                  <a:cubicBezTo>
                    <a:pt x="382992" y="1710872"/>
                    <a:pt x="0" y="1327880"/>
                    <a:pt x="0" y="855436"/>
                  </a:cubicBezTo>
                  <a:cubicBezTo>
                    <a:pt x="0" y="382992"/>
                    <a:pt x="382992" y="0"/>
                    <a:pt x="855436" y="0"/>
                  </a:cubicBezTo>
                  <a:cubicBezTo>
                    <a:pt x="1327880" y="0"/>
                    <a:pt x="1710872" y="382992"/>
                    <a:pt x="1710872" y="85543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F6CA4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6595110" y="2722920"/>
              <a:ext cx="1550246" cy="1550246"/>
            </a:xfrm>
            <a:custGeom>
              <a:rect b="b" l="l" r="r" t="t"/>
              <a:pathLst>
                <a:path extrusionOk="0" h="1550246" w="1550246">
                  <a:moveTo>
                    <a:pt x="1550247" y="775123"/>
                  </a:moveTo>
                  <a:cubicBezTo>
                    <a:pt x="1550247" y="1203212"/>
                    <a:pt x="1203212" y="1550247"/>
                    <a:pt x="775123" y="1550247"/>
                  </a:cubicBezTo>
                  <a:cubicBezTo>
                    <a:pt x="347035" y="1550247"/>
                    <a:pt x="0" y="1203212"/>
                    <a:pt x="0" y="775123"/>
                  </a:cubicBezTo>
                  <a:cubicBezTo>
                    <a:pt x="0" y="347035"/>
                    <a:pt x="347035" y="0"/>
                    <a:pt x="775123" y="0"/>
                  </a:cubicBezTo>
                  <a:cubicBezTo>
                    <a:pt x="1203212" y="0"/>
                    <a:pt x="1550247" y="347035"/>
                    <a:pt x="1550247" y="775123"/>
                  </a:cubicBezTo>
                  <a:close/>
                </a:path>
              </a:pathLst>
            </a:custGeom>
            <a:gradFill>
              <a:gsLst>
                <a:gs pos="0">
                  <a:srgbClr val="F6CA42"/>
                </a:gs>
                <a:gs pos="100000">
                  <a:srgbClr val="A7440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28"/>
          <p:cNvGrpSpPr/>
          <p:nvPr/>
        </p:nvGrpSpPr>
        <p:grpSpPr>
          <a:xfrm>
            <a:off x="9026277" y="953173"/>
            <a:ext cx="1710871" cy="1575370"/>
            <a:chOff x="9063264" y="2642608"/>
            <a:chExt cx="1710871" cy="1710871"/>
          </a:xfrm>
        </p:grpSpPr>
        <p:sp>
          <p:nvSpPr>
            <p:cNvPr id="332" name="Google Shape;332;p28"/>
            <p:cNvSpPr/>
            <p:nvPr/>
          </p:nvSpPr>
          <p:spPr>
            <a:xfrm>
              <a:off x="9063264" y="2642608"/>
              <a:ext cx="1710871" cy="1710871"/>
            </a:xfrm>
            <a:custGeom>
              <a:rect b="b" l="l" r="r" t="t"/>
              <a:pathLst>
                <a:path extrusionOk="0" h="1710871" w="1710871">
                  <a:moveTo>
                    <a:pt x="1710872" y="855436"/>
                  </a:moveTo>
                  <a:cubicBezTo>
                    <a:pt x="1710872" y="1327880"/>
                    <a:pt x="1327880" y="1710872"/>
                    <a:pt x="855436" y="1710872"/>
                  </a:cubicBezTo>
                  <a:cubicBezTo>
                    <a:pt x="382992" y="1710872"/>
                    <a:pt x="0" y="1327880"/>
                    <a:pt x="0" y="855436"/>
                  </a:cubicBezTo>
                  <a:cubicBezTo>
                    <a:pt x="0" y="382992"/>
                    <a:pt x="382992" y="0"/>
                    <a:pt x="855436" y="0"/>
                  </a:cubicBezTo>
                  <a:cubicBezTo>
                    <a:pt x="1327880" y="0"/>
                    <a:pt x="1710872" y="382992"/>
                    <a:pt x="1710872" y="85543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348C4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9143576" y="2722920"/>
              <a:ext cx="1550246" cy="1550246"/>
            </a:xfrm>
            <a:custGeom>
              <a:rect b="b" l="l" r="r" t="t"/>
              <a:pathLst>
                <a:path extrusionOk="0" h="1550246" w="1550246">
                  <a:moveTo>
                    <a:pt x="1550247" y="775123"/>
                  </a:moveTo>
                  <a:cubicBezTo>
                    <a:pt x="1550247" y="1203212"/>
                    <a:pt x="1203212" y="1550247"/>
                    <a:pt x="775123" y="1550247"/>
                  </a:cubicBezTo>
                  <a:cubicBezTo>
                    <a:pt x="347035" y="1550247"/>
                    <a:pt x="0" y="1203212"/>
                    <a:pt x="0" y="775123"/>
                  </a:cubicBezTo>
                  <a:cubicBezTo>
                    <a:pt x="0" y="347035"/>
                    <a:pt x="347035" y="0"/>
                    <a:pt x="775123" y="0"/>
                  </a:cubicBezTo>
                  <a:cubicBezTo>
                    <a:pt x="1203212" y="0"/>
                    <a:pt x="1550247" y="347035"/>
                    <a:pt x="1550247" y="775123"/>
                  </a:cubicBezTo>
                  <a:close/>
                </a:path>
              </a:pathLst>
            </a:custGeom>
            <a:gradFill>
              <a:gsLst>
                <a:gs pos="0">
                  <a:srgbClr val="348C42"/>
                </a:gs>
                <a:gs pos="100000">
                  <a:srgbClr val="06431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28"/>
          <p:cNvSpPr txBox="1"/>
          <p:nvPr/>
        </p:nvSpPr>
        <p:spPr>
          <a:xfrm>
            <a:off x="1582262" y="2865229"/>
            <a:ext cx="12954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Strength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4091620" y="2888792"/>
            <a:ext cx="13863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Weakness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6428292" y="2888792"/>
            <a:ext cx="18099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9314320" y="2888792"/>
            <a:ext cx="1295400" cy="369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Threats</a:t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3929326" y="2700900"/>
            <a:ext cx="1710900" cy="6717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6477801" y="2700900"/>
            <a:ext cx="1710900" cy="6717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F6CA4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9106576" y="2700900"/>
            <a:ext cx="1710900" cy="6717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348C4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4053000" y="194901"/>
            <a:ext cx="4086000" cy="563400"/>
          </a:xfrm>
          <a:prstGeom prst="roundRect">
            <a:avLst>
              <a:gd fmla="val 50000" name="adj"/>
            </a:avLst>
          </a:prstGeom>
          <a:noFill/>
          <a:ln cap="flat" cmpd="sng" w="12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955" rotWithShape="0" algn="l" dist="38216">
              <a:srgbClr val="000000">
                <a:alpha val="40000"/>
              </a:srgbClr>
            </a:outerShdw>
          </a:effectLst>
        </p:spPr>
        <p:txBody>
          <a:bodyPr anchorCtr="0" anchor="ctr" bIns="45850" lIns="91700" spcFirstLastPara="1" rIns="91700" wrap="square" tIns="45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oy&#10;&#10;Description automatically generated" id="342" name="Google Shape;342;p28"/>
          <p:cNvPicPr preferRelativeResize="0"/>
          <p:nvPr/>
        </p:nvPicPr>
        <p:blipFill rotWithShape="1">
          <a:blip r:embed="rId3">
            <a:alphaModFix/>
          </a:blip>
          <a:srcRect b="0" l="0" r="-3443" t="-9955"/>
          <a:stretch/>
        </p:blipFill>
        <p:spPr>
          <a:xfrm>
            <a:off x="1454837" y="1027153"/>
            <a:ext cx="1550244" cy="1427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oll, toy, posing&#10;&#10;Description automatically generated" id="343" name="Google Shape;343;p28"/>
          <p:cNvPicPr preferRelativeResize="0"/>
          <p:nvPr/>
        </p:nvPicPr>
        <p:blipFill rotWithShape="1">
          <a:blip r:embed="rId4">
            <a:alphaModFix/>
          </a:blip>
          <a:srcRect b="0" l="0" r="0" t="-12814"/>
          <a:stretch/>
        </p:blipFill>
        <p:spPr>
          <a:xfrm>
            <a:off x="4009652" y="1027153"/>
            <a:ext cx="1550245" cy="14274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toy&#10;&#10;Description automatically generated with low confidence" id="344" name="Google Shape;344;p28"/>
          <p:cNvPicPr preferRelativeResize="0"/>
          <p:nvPr/>
        </p:nvPicPr>
        <p:blipFill rotWithShape="1">
          <a:blip r:embed="rId5">
            <a:alphaModFix/>
          </a:blip>
          <a:srcRect b="0" l="-8426" r="0" t="-4858"/>
          <a:stretch/>
        </p:blipFill>
        <p:spPr>
          <a:xfrm>
            <a:off x="6558115" y="1027152"/>
            <a:ext cx="1550246" cy="1427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/>
          <p:cNvPicPr preferRelativeResize="0"/>
          <p:nvPr/>
        </p:nvPicPr>
        <p:blipFill rotWithShape="1">
          <a:blip r:embed="rId6">
            <a:alphaModFix/>
          </a:blip>
          <a:srcRect b="0" l="0" r="-30328" t="-13954"/>
          <a:stretch/>
        </p:blipFill>
        <p:spPr>
          <a:xfrm>
            <a:off x="9106578" y="1027152"/>
            <a:ext cx="1550247" cy="1426227"/>
          </a:xfrm>
          <a:custGeom>
            <a:rect b="b" l="l" r="r" t="t"/>
            <a:pathLst>
              <a:path extrusionOk="0" h="1550247" w="1550247">
                <a:moveTo>
                  <a:pt x="775123" y="0"/>
                </a:moveTo>
                <a:cubicBezTo>
                  <a:pt x="1203212" y="0"/>
                  <a:pt x="1550247" y="347035"/>
                  <a:pt x="1550247" y="775123"/>
                </a:cubicBezTo>
                <a:cubicBezTo>
                  <a:pt x="1550247" y="1203212"/>
                  <a:pt x="1203212" y="1550247"/>
                  <a:pt x="775123" y="1550247"/>
                </a:cubicBezTo>
                <a:cubicBezTo>
                  <a:pt x="347035" y="1550247"/>
                  <a:pt x="0" y="1203212"/>
                  <a:pt x="0" y="775123"/>
                </a:cubicBezTo>
                <a:cubicBezTo>
                  <a:pt x="0" y="347035"/>
                  <a:pt x="347035" y="0"/>
                  <a:pt x="7751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46" name="Google Shape;346;p28"/>
          <p:cNvSpPr txBox="1"/>
          <p:nvPr/>
        </p:nvSpPr>
        <p:spPr>
          <a:xfrm>
            <a:off x="977950" y="3544950"/>
            <a:ext cx="2516700" cy="2124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Strong IP Library ( Marvel, Star Wars, Pixar, Disney)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Global Brand recognition and trust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Financial resources to invest in higher scale content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Able to integrate content in their parks, merchandise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3604025" y="3544950"/>
            <a:ext cx="2516700" cy="23088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Weaker recommendation algorithm than Netflix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Less content variety and lower release volume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Over Reliance on established franchises risking fatigue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Limited appeal to non family content unlike netflix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28"/>
          <p:cNvSpPr txBox="1"/>
          <p:nvPr/>
        </p:nvSpPr>
        <p:spPr>
          <a:xfrm>
            <a:off x="6230100" y="3544950"/>
            <a:ext cx="2516700" cy="341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Growing global demand for safe, kid-friendly streaming content.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Expansion of localized content for non-US markets.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Cross-platform synergy (parks + streaming + retail + cruises).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AI-driven personalization to reduce search fatigue.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Growing appetite for nostalgia-driven content (live-action remakes, legacy franchises).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28"/>
          <p:cNvSpPr txBox="1"/>
          <p:nvPr/>
        </p:nvSpPr>
        <p:spPr>
          <a:xfrm>
            <a:off x="9026275" y="3544950"/>
            <a:ext cx="2516700" cy="341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Netflix’s global dominance and first-mover advantage.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Subscription fatigue and rising consumer price sensitivity.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Competition from Amazon, Max, Apple TV+, YouTube.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Piracy and password-sharing undermining subscription growth.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Market saturation and shifting attention to gaming/social platforms.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/>
          <p:nvPr/>
        </p:nvSpPr>
        <p:spPr>
          <a:xfrm rot="5400000">
            <a:off x="8552546" y="-70693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" name="Google Shape;355;p29"/>
          <p:cNvGrpSpPr/>
          <p:nvPr/>
        </p:nvGrpSpPr>
        <p:grpSpPr>
          <a:xfrm>
            <a:off x="7357340" y="612140"/>
            <a:ext cx="3487800" cy="5633700"/>
            <a:chOff x="8557490" y="-1042720"/>
            <a:chExt cx="3487800" cy="5633700"/>
          </a:xfrm>
        </p:grpSpPr>
        <p:pic>
          <p:nvPicPr>
            <p:cNvPr id="356" name="Google Shape;356;p29" title="gettyimages-1971001350-copy.jpg"/>
            <p:cNvPicPr preferRelativeResize="0"/>
            <p:nvPr/>
          </p:nvPicPr>
          <p:blipFill rotWithShape="1">
            <a:blip r:embed="rId3">
              <a:alphaModFix/>
            </a:blip>
            <a:srcRect b="0" l="13083" r="51894" t="0"/>
            <a:stretch/>
          </p:blipFill>
          <p:spPr>
            <a:xfrm>
              <a:off x="8724900" y="-781050"/>
              <a:ext cx="3153000" cy="50673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</p:pic>
        <p:sp>
          <p:nvSpPr>
            <p:cNvPr id="357" name="Google Shape;357;p29"/>
            <p:cNvSpPr/>
            <p:nvPr/>
          </p:nvSpPr>
          <p:spPr>
            <a:xfrm>
              <a:off x="8557490" y="-1042720"/>
              <a:ext cx="3487800" cy="5633700"/>
            </a:xfrm>
            <a:prstGeom prst="roundRect">
              <a:avLst>
                <a:gd fmla="val 50000" name="adj"/>
              </a:avLst>
            </a:prstGeom>
            <a:noFill/>
            <a:ln cap="flat" cmpd="sng" w="12700">
              <a:solidFill>
                <a:srgbClr val="0662A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29"/>
          <p:cNvGrpSpPr/>
          <p:nvPr/>
        </p:nvGrpSpPr>
        <p:grpSpPr>
          <a:xfrm>
            <a:off x="1154919" y="972451"/>
            <a:ext cx="5145900" cy="5053614"/>
            <a:chOff x="931569" y="1229659"/>
            <a:chExt cx="5145900" cy="5053614"/>
          </a:xfrm>
        </p:grpSpPr>
        <p:sp>
          <p:nvSpPr>
            <p:cNvPr id="359" name="Google Shape;359;p29"/>
            <p:cNvSpPr txBox="1"/>
            <p:nvPr/>
          </p:nvSpPr>
          <p:spPr>
            <a:xfrm>
              <a:off x="931569" y="2078173"/>
              <a:ext cx="5145900" cy="42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Discovery</a:t>
              </a: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Disney still trusted for magic and imagination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Issue</a:t>
              </a: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Too many sequels and remakes creates less excitement and lowers emotional impact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i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Consumer Belief</a:t>
              </a: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They will re-engage and spend for new iconic characters and original stories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i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Expectation</a:t>
              </a: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Authentic, emotional storytelling, not formulaic or forced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SzPts val="1100"/>
                <a:buNone/>
              </a:pPr>
              <a:r>
                <a:rPr i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Brand Advantage</a:t>
              </a: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Disney owns magic and can create the next cultural icons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Strategic Implication</a:t>
              </a:r>
              <a:r>
                <a:rPr lang="en-US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- Shift from nostalgia to future-building innovation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0" name="Google Shape;360;p29"/>
            <p:cNvSpPr txBox="1"/>
            <p:nvPr/>
          </p:nvSpPr>
          <p:spPr>
            <a:xfrm>
              <a:off x="931569" y="1229659"/>
              <a:ext cx="50604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Insight</a:t>
              </a:r>
              <a:endParaRPr b="1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 txBox="1"/>
          <p:nvPr/>
        </p:nvSpPr>
        <p:spPr>
          <a:xfrm>
            <a:off x="828800" y="1647993"/>
            <a:ext cx="6096000" cy="5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Create New Magic to Lead Again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Invest in original IP to reignite excitement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new iconic characters and storytelling worlds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Strengthen immersive experiences (streaming, parks &amp; gaming)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Prioritize authentic emotional storytelling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Restore Disney’s leadership in imagination and wonder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Win back audience passion and sustain growth through innovation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30"/>
          <p:cNvSpPr/>
          <p:nvPr/>
        </p:nvSpPr>
        <p:spPr>
          <a:xfrm flipH="1">
            <a:off x="7571542" y="0"/>
            <a:ext cx="4620458" cy="4803511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oy&#10;&#10;Description automatically generated" id="367" name="Google Shape;367;p30"/>
          <p:cNvPicPr preferRelativeResize="0"/>
          <p:nvPr/>
        </p:nvPicPr>
        <p:blipFill rotWithShape="1">
          <a:blip r:embed="rId3">
            <a:alphaModFix/>
          </a:blip>
          <a:srcRect b="0" l="0" r="-3443" t="-9955"/>
          <a:stretch/>
        </p:blipFill>
        <p:spPr>
          <a:xfrm>
            <a:off x="6096000" y="183053"/>
            <a:ext cx="6674947" cy="6674947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0"/>
          <p:cNvSpPr txBox="1"/>
          <p:nvPr/>
        </p:nvSpPr>
        <p:spPr>
          <a:xfrm>
            <a:off x="828797" y="871413"/>
            <a:ext cx="4953000" cy="5541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Strategic Direction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"/>
          <p:cNvSpPr/>
          <p:nvPr/>
        </p:nvSpPr>
        <p:spPr>
          <a:xfrm flipH="1">
            <a:off x="7570456" y="0"/>
            <a:ext cx="4621544" cy="4804640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" name="Google Shape;374;p31"/>
          <p:cNvGrpSpPr/>
          <p:nvPr/>
        </p:nvGrpSpPr>
        <p:grpSpPr>
          <a:xfrm>
            <a:off x="-131371" y="1659423"/>
            <a:ext cx="5615761" cy="5615761"/>
            <a:chOff x="1280301" y="-582401"/>
            <a:chExt cx="3987900" cy="3987900"/>
          </a:xfrm>
        </p:grpSpPr>
        <p:sp>
          <p:nvSpPr>
            <p:cNvPr id="375" name="Google Shape;375;p31"/>
            <p:cNvSpPr/>
            <p:nvPr/>
          </p:nvSpPr>
          <p:spPr>
            <a:xfrm>
              <a:off x="1280301" y="-582401"/>
              <a:ext cx="3987900" cy="3987900"/>
            </a:xfrm>
            <a:prstGeom prst="ellipse">
              <a:avLst/>
            </a:prstGeom>
            <a:noFill/>
            <a:ln cap="flat" cmpd="sng" w="12700">
              <a:solidFill>
                <a:srgbClr val="0662A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6" name="Google Shape;376;p31" title="1180w-600h_disney-families-the-incredibles-780x440.jpg"/>
            <p:cNvPicPr preferRelativeResize="0"/>
            <p:nvPr/>
          </p:nvPicPr>
          <p:blipFill rotWithShape="1">
            <a:blip r:embed="rId3">
              <a:alphaModFix/>
            </a:blip>
            <a:srcRect b="0" l="17692" r="25924" t="0"/>
            <a:stretch/>
          </p:blipFill>
          <p:spPr>
            <a:xfrm>
              <a:off x="1422400" y="-441325"/>
              <a:ext cx="3703500" cy="3705300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1"/>
          <p:cNvSpPr txBox="1"/>
          <p:nvPr/>
        </p:nvSpPr>
        <p:spPr>
          <a:xfrm>
            <a:off x="5576525" y="1605005"/>
            <a:ext cx="60960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Primary Target - </a:t>
            </a:r>
            <a:r>
              <a:rPr i="1"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 Z and Gen Alpha families</a:t>
            </a:r>
            <a:endParaRPr i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Digital-native fans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Highly engaged in streaming and gaming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Shaping future franchise loyalty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Secondary Target - </a:t>
            </a:r>
            <a:r>
              <a:rPr i="1"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Millennial Parents</a:t>
            </a:r>
            <a:endParaRPr i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Strong nostalgia for Disney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High willingness to spend on family entertainment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Want new magical experiences to share with their kids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5576531" y="893250"/>
            <a:ext cx="3137700" cy="5541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Targeting 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/>
          <p:nvPr/>
        </p:nvSpPr>
        <p:spPr>
          <a:xfrm rot="5400000">
            <a:off x="8552546" y="-70693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32"/>
          <p:cNvGrpSpPr/>
          <p:nvPr/>
        </p:nvGrpSpPr>
        <p:grpSpPr>
          <a:xfrm>
            <a:off x="588044" y="773439"/>
            <a:ext cx="5060406" cy="5446562"/>
            <a:chOff x="853494" y="1057884"/>
            <a:chExt cx="5060406" cy="5446562"/>
          </a:xfrm>
        </p:grpSpPr>
        <p:sp>
          <p:nvSpPr>
            <p:cNvPr id="385" name="Google Shape;385;p32"/>
            <p:cNvSpPr txBox="1"/>
            <p:nvPr/>
          </p:nvSpPr>
          <p:spPr>
            <a:xfrm>
              <a:off x="853500" y="1832846"/>
              <a:ext cx="5060400" cy="46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Rational Benefit</a:t>
              </a:r>
              <a:endParaRPr b="1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65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ontserrat"/>
                <a:buChar char="●"/>
              </a:pP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Access to premium, high-quality content across iconic franchises.</a:t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65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ontserrat"/>
                <a:buChar char="●"/>
              </a:pP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Safe, curated environment for families and children.</a:t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65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ontserrat"/>
                <a:buChar char="●"/>
              </a:pP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Intuitive user experience with age-based profiles and parental controls.</a:t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65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ontserrat"/>
                <a:buChar char="●"/>
              </a:pP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Exclusive titles unavailable on any other platform.</a:t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6" name="Google Shape;386;p32"/>
            <p:cNvSpPr txBox="1"/>
            <p:nvPr/>
          </p:nvSpPr>
          <p:spPr>
            <a:xfrm>
              <a:off x="853494" y="1057884"/>
              <a:ext cx="50604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Brand Positioning</a:t>
              </a:r>
              <a:endParaRPr b="1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32"/>
          <p:cNvSpPr txBox="1"/>
          <p:nvPr/>
        </p:nvSpPr>
        <p:spPr>
          <a:xfrm>
            <a:off x="5987025" y="1579638"/>
            <a:ext cx="5060400" cy="5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Emotional Benefit</a:t>
            </a:r>
            <a:endParaRPr b="1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lang="en-US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Nostalgia, childhood magic, and multi-generational family bonding.</a:t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lang="en-US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Trust parents feel confident letting children watch without monitoring.</a:t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lang="en-US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Sense of wonder, immersion, and emotional attachment to beloved characters.</a:t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lang="en-US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Belonging to a global fan community (Marvel fans, Star Wars fans, Disney fans)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"/>
          <p:cNvSpPr/>
          <p:nvPr/>
        </p:nvSpPr>
        <p:spPr>
          <a:xfrm rot="5400000">
            <a:off x="8552546" y="-70693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" name="Google Shape;393;p33"/>
          <p:cNvGrpSpPr/>
          <p:nvPr/>
        </p:nvGrpSpPr>
        <p:grpSpPr>
          <a:xfrm>
            <a:off x="7497890" y="612140"/>
            <a:ext cx="3487800" cy="5633700"/>
            <a:chOff x="8557515" y="-1042770"/>
            <a:chExt cx="3487800" cy="5633700"/>
          </a:xfrm>
        </p:grpSpPr>
        <p:pic>
          <p:nvPicPr>
            <p:cNvPr id="394" name="Google Shape;394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24900" y="-781050"/>
              <a:ext cx="3153000" cy="50673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</p:pic>
        <p:sp>
          <p:nvSpPr>
            <p:cNvPr id="395" name="Google Shape;395;p33"/>
            <p:cNvSpPr/>
            <p:nvPr/>
          </p:nvSpPr>
          <p:spPr>
            <a:xfrm>
              <a:off x="8557515" y="-1042770"/>
              <a:ext cx="3487800" cy="5633700"/>
            </a:xfrm>
            <a:prstGeom prst="roundRect">
              <a:avLst>
                <a:gd fmla="val 50000" name="adj"/>
              </a:avLst>
            </a:prstGeom>
            <a:noFill/>
            <a:ln cap="flat" cmpd="sng" w="12700">
              <a:solidFill>
                <a:srgbClr val="0662A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33"/>
          <p:cNvGrpSpPr/>
          <p:nvPr/>
        </p:nvGrpSpPr>
        <p:grpSpPr>
          <a:xfrm>
            <a:off x="588044" y="773439"/>
            <a:ext cx="6582006" cy="5311124"/>
            <a:chOff x="853494" y="1057884"/>
            <a:chExt cx="6582006" cy="5311124"/>
          </a:xfrm>
        </p:grpSpPr>
        <p:sp>
          <p:nvSpPr>
            <p:cNvPr id="397" name="Google Shape;397;p33"/>
            <p:cNvSpPr txBox="1"/>
            <p:nvPr/>
          </p:nvSpPr>
          <p:spPr>
            <a:xfrm>
              <a:off x="853500" y="1943708"/>
              <a:ext cx="6582000" cy="442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Reason to Believe</a:t>
              </a:r>
              <a:endParaRPr b="1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ontserrat"/>
                <a:buChar char="●"/>
              </a:pPr>
              <a:r>
                <a:rPr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100+ years of storytelling excellence.</a:t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ontserrat"/>
                <a:buChar char="●"/>
              </a:pPr>
              <a:r>
                <a:rPr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Ownership of world-renowned franchises and universally loved characters.</a:t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ontserrat"/>
                <a:buChar char="●"/>
              </a:pPr>
              <a:r>
                <a:rPr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Disney’s consistent global brand reputation for quality and safety.</a:t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02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ontserrat"/>
                <a:buChar char="●"/>
              </a:pPr>
              <a:r>
                <a:rPr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Cross-platform ecosystem that deepens experiences (parks, cruises, merchandise).</a:t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8" name="Google Shape;398;p33"/>
            <p:cNvSpPr txBox="1"/>
            <p:nvPr/>
          </p:nvSpPr>
          <p:spPr>
            <a:xfrm>
              <a:off x="853494" y="1057884"/>
              <a:ext cx="50604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Brand Positioning</a:t>
              </a:r>
              <a:endParaRPr b="1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/>
          <p:nvPr/>
        </p:nvSpPr>
        <p:spPr>
          <a:xfrm rot="5400000">
            <a:off x="8552546" y="-70693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" name="Google Shape;404;p34"/>
          <p:cNvGrpSpPr/>
          <p:nvPr/>
        </p:nvGrpSpPr>
        <p:grpSpPr>
          <a:xfrm>
            <a:off x="7497890" y="612140"/>
            <a:ext cx="3487800" cy="5633700"/>
            <a:chOff x="8557515" y="-1042770"/>
            <a:chExt cx="3487800" cy="5633700"/>
          </a:xfrm>
        </p:grpSpPr>
        <p:pic>
          <p:nvPicPr>
            <p:cNvPr id="405" name="Google Shape;405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24900" y="-781050"/>
              <a:ext cx="3153000" cy="5067300"/>
            </a:xfrm>
            <a:prstGeom prst="roundRect">
              <a:avLst>
                <a:gd fmla="val 50000" name="adj"/>
              </a:avLst>
            </a:prstGeom>
            <a:noFill/>
            <a:ln>
              <a:noFill/>
            </a:ln>
          </p:spPr>
        </p:pic>
        <p:sp>
          <p:nvSpPr>
            <p:cNvPr id="406" name="Google Shape;406;p34"/>
            <p:cNvSpPr/>
            <p:nvPr/>
          </p:nvSpPr>
          <p:spPr>
            <a:xfrm>
              <a:off x="8557515" y="-1042770"/>
              <a:ext cx="3487800" cy="5633700"/>
            </a:xfrm>
            <a:prstGeom prst="roundRect">
              <a:avLst>
                <a:gd fmla="val 50000" name="adj"/>
              </a:avLst>
            </a:prstGeom>
            <a:noFill/>
            <a:ln cap="flat" cmpd="sng" w="12700">
              <a:solidFill>
                <a:srgbClr val="0662A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" name="Google Shape;407;p34"/>
          <p:cNvGrpSpPr/>
          <p:nvPr/>
        </p:nvGrpSpPr>
        <p:grpSpPr>
          <a:xfrm>
            <a:off x="588044" y="773439"/>
            <a:ext cx="6582006" cy="5542124"/>
            <a:chOff x="853494" y="1057884"/>
            <a:chExt cx="6582006" cy="5542124"/>
          </a:xfrm>
        </p:grpSpPr>
        <p:sp>
          <p:nvSpPr>
            <p:cNvPr id="408" name="Google Shape;408;p34"/>
            <p:cNvSpPr txBox="1"/>
            <p:nvPr/>
          </p:nvSpPr>
          <p:spPr>
            <a:xfrm>
              <a:off x="853500" y="1943708"/>
              <a:ext cx="6582000" cy="46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Proposed Change</a:t>
              </a:r>
              <a:endParaRPr b="1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65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ontserrat"/>
                <a:buChar char="●"/>
              </a:pP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Shift focus from content volume to </a:t>
              </a:r>
              <a:r>
                <a:rPr b="1"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curation and trust.</a:t>
              </a:r>
              <a:endParaRPr b="1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65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ontserrat"/>
                <a:buChar char="●"/>
              </a:pP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Emphasize Disney’s unmatched emotional storytelling over algorithm driven content dumps.</a:t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65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ontserrat"/>
                <a:buChar char="●"/>
              </a:pP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Highlight </a:t>
              </a:r>
              <a:r>
                <a:rPr b="1"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family first identity</a:t>
              </a: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something Netflix cannot authentically own.</a:t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365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Montserrat"/>
                <a:buChar char="●"/>
              </a:pPr>
              <a:r>
                <a:rPr lang="en-US" sz="17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Position Disney+ as the safest, most magical, most trusted streaming home for families.</a:t>
              </a:r>
              <a:endParaRPr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9" name="Google Shape;409;p34"/>
            <p:cNvSpPr txBox="1"/>
            <p:nvPr/>
          </p:nvSpPr>
          <p:spPr>
            <a:xfrm>
              <a:off x="853494" y="1057884"/>
              <a:ext cx="50604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Brand Positioning</a:t>
              </a:r>
              <a:endParaRPr b="1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/>
        </p:nvSpPr>
        <p:spPr>
          <a:xfrm>
            <a:off x="1659900" y="3046820"/>
            <a:ext cx="887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None/>
            </a:pPr>
            <a:r>
              <a:t/>
            </a:r>
            <a:endParaRPr/>
          </a:p>
        </p:txBody>
      </p:sp>
      <p:sp>
        <p:nvSpPr>
          <p:cNvPr id="415" name="Google Shape;415;p35"/>
          <p:cNvSpPr txBox="1"/>
          <p:nvPr>
            <p:ph type="title"/>
          </p:nvPr>
        </p:nvSpPr>
        <p:spPr>
          <a:xfrm>
            <a:off x="213600" y="130875"/>
            <a:ext cx="10515600" cy="1046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Membership - Monthly Plan  </a:t>
            </a:r>
            <a:endParaRPr/>
          </a:p>
        </p:txBody>
      </p:sp>
      <p:pic>
        <p:nvPicPr>
          <p:cNvPr id="416" name="Google Shape;4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50" y="1177275"/>
            <a:ext cx="11907899" cy="54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8000" y="1268575"/>
            <a:ext cx="330300" cy="33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7800" y="1268575"/>
            <a:ext cx="330300" cy="33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2250" y="1268575"/>
            <a:ext cx="330300" cy="33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drawing of a castle&#10;&#10;Description automatically generated with low confidence" id="420" name="Google Shape;42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4424" y="1268600"/>
            <a:ext cx="335400" cy="3354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black and white drawing of a castle&#10;&#10;Description automatically generated with low confidence" id="421" name="Google Shape;42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5349" y="1268600"/>
            <a:ext cx="335400" cy="3354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black and white drawing of a castle&#10;&#10;Description automatically generated with low confidence" id="422" name="Google Shape;42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7474" y="1268600"/>
            <a:ext cx="335400" cy="335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"/>
          <p:cNvSpPr txBox="1"/>
          <p:nvPr/>
        </p:nvSpPr>
        <p:spPr>
          <a:xfrm>
            <a:off x="3" y="77236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ora"/>
              <a:buNone/>
            </a:pPr>
            <a:r>
              <a:rPr lang="en-US" sz="3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Marketing Plan (4Ps)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 rot="10800000">
            <a:off x="8623249" y="314785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 txBox="1"/>
          <p:nvPr>
            <p:ph idx="1" type="body"/>
          </p:nvPr>
        </p:nvSpPr>
        <p:spPr>
          <a:xfrm>
            <a:off x="2149402" y="1443175"/>
            <a:ext cx="2535600" cy="82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</a:t>
            </a:r>
            <a:endParaRPr b="0" sz="3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1" name="Google Shape;431;p36"/>
          <p:cNvSpPr txBox="1"/>
          <p:nvPr>
            <p:ph idx="2" type="body"/>
          </p:nvPr>
        </p:nvSpPr>
        <p:spPr>
          <a:xfrm>
            <a:off x="838250" y="2255425"/>
            <a:ext cx="5439600" cy="195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Experience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Content: Films (Marvel, Pixar, Lucasfilm), Streaming (Disney+), TV Networks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Experiences: Theme Parks, Resorts, Cruise Lines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Goods: Licensed Merchandise, Games, Publishing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36"/>
          <p:cNvSpPr txBox="1"/>
          <p:nvPr>
            <p:ph idx="3" type="body"/>
          </p:nvPr>
        </p:nvSpPr>
        <p:spPr>
          <a:xfrm>
            <a:off x="8024350" y="1701325"/>
            <a:ext cx="1475700" cy="554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PRICE</a:t>
            </a:r>
            <a:endParaRPr b="0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36"/>
          <p:cNvSpPr txBox="1"/>
          <p:nvPr>
            <p:ph idx="4" type="body"/>
          </p:nvPr>
        </p:nvSpPr>
        <p:spPr>
          <a:xfrm>
            <a:off x="6170650" y="2266975"/>
            <a:ext cx="5692800" cy="36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Value of the brand's 'magic' and experience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Dynamic Pricing: Ticket prices fluctuate based on demand, date, and season (peak vs. off-peak)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Tiered Pricing: Offering a range of options (Value, Moderate, Deluxe) to capture all market segments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•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Service Pricing: Competitive and often bundled (Disney+, Hulu, ESPN+) to maximize subscription value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/>
          <p:nvPr/>
        </p:nvSpPr>
        <p:spPr>
          <a:xfrm rot="5400000">
            <a:off x="8552549" y="-70699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7"/>
          <p:cNvSpPr txBox="1"/>
          <p:nvPr/>
        </p:nvSpPr>
        <p:spPr>
          <a:xfrm>
            <a:off x="3" y="77236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ora"/>
              <a:buNone/>
            </a:pPr>
            <a:r>
              <a:rPr lang="en-US" sz="3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Marketing Plan (4Ps)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0" name="Google Shape;440;p37"/>
          <p:cNvSpPr/>
          <p:nvPr/>
        </p:nvSpPr>
        <p:spPr>
          <a:xfrm rot="-5400000">
            <a:off x="70699" y="321855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7"/>
          <p:cNvSpPr txBox="1"/>
          <p:nvPr>
            <p:ph idx="1" type="body"/>
          </p:nvPr>
        </p:nvSpPr>
        <p:spPr>
          <a:xfrm>
            <a:off x="2636750" y="1701325"/>
            <a:ext cx="1560900" cy="554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</a:t>
            </a:r>
            <a:endParaRPr b="0" sz="3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2" name="Google Shape;442;p37"/>
          <p:cNvSpPr txBox="1"/>
          <p:nvPr>
            <p:ph idx="2" type="body"/>
          </p:nvPr>
        </p:nvSpPr>
        <p:spPr>
          <a:xfrm>
            <a:off x="838238" y="2255425"/>
            <a:ext cx="5157900" cy="36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Anytime, anywhere</a:t>
            </a: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(Physical and Digital)</a:t>
            </a:r>
            <a:b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Physical Channels </a:t>
            </a: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(Experiential Anchors):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Global Theme Parks &amp; Resorts.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Disney Cruise Line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Retail stores and Licensed Partner Stores (e.g., Target)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Digital Channels</a:t>
            </a: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(Direct-to-Consumer):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Disney+ (Streaming)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ShopDisney.com (E-commerce)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37"/>
          <p:cNvSpPr txBox="1"/>
          <p:nvPr>
            <p:ph idx="3" type="body"/>
          </p:nvPr>
        </p:nvSpPr>
        <p:spPr>
          <a:xfrm>
            <a:off x="7578400" y="1701325"/>
            <a:ext cx="2877300" cy="554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b="0"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PROMOTION</a:t>
            </a:r>
            <a:endParaRPr b="0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37"/>
          <p:cNvSpPr txBox="1"/>
          <p:nvPr>
            <p:ph idx="4" type="body"/>
          </p:nvPr>
        </p:nvSpPr>
        <p:spPr>
          <a:xfrm>
            <a:off x="6170650" y="2266975"/>
            <a:ext cx="5692800" cy="459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Theme Parks: New meet-and-greets, parades, or dedicated land expansions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Streaming: Exclusive behind-the-scenes content and sequel series on Disney+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Merchandise: Driving sales of toys, apparel, and games through retail partners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Media Channels: Trailers and segments running on ABC, ESPN, and Disney Channel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•"/>
            </a:pPr>
            <a:r>
              <a:rPr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Data-Driven Targeting: Utilizing the massive Disney Audience Graph for hyper-personalized advertising and content recommendations on Disney+, ensuring the right ad reaches the right viewer at the right time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8"/>
          <p:cNvSpPr txBox="1"/>
          <p:nvPr/>
        </p:nvSpPr>
        <p:spPr>
          <a:xfrm>
            <a:off x="1659900" y="2859445"/>
            <a:ext cx="88722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Thank You!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"/>
          <p:cNvSpPr txBox="1"/>
          <p:nvPr/>
        </p:nvSpPr>
        <p:spPr>
          <a:xfrm>
            <a:off x="858000" y="889200"/>
            <a:ext cx="104760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https://thewaltdisneycompany.com/about</a:t>
            </a:r>
            <a:r>
              <a:rPr b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/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https://help.disneyplus.com/article/disneyplus-price?redirect=false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https://www.foxbusiness.com/markets/disney-losing-30m-week-youtube-tv-blackout-drags-on-analysts-say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https://finance.yahoo.com/news/price-standoff-disney-losses-wins-132839068.html?fr=sycsrp_catchall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https://www.crispidea.com/netflix-vs-disney-streaming-war-2025/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https://businessmodelanalyst.com/disney-pestle-analysis/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https://panmore.com/walt-disney-company-five-forces-analysis-porters-recommendations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https://businesschronicler.com/competitors/disney-competitors-analysis/ 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rPr b="1" lang="en-US" sz="16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https://d23.com/about-walt-disney/</a:t>
            </a:r>
            <a:endParaRPr b="1" sz="16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Lora"/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ora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446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"/>
          <p:cNvSpPr/>
          <p:nvPr/>
        </p:nvSpPr>
        <p:spPr>
          <a:xfrm>
            <a:off x="-1" y="1"/>
            <a:ext cx="3568760" cy="3710147"/>
          </a:xfrm>
          <a:custGeom>
            <a:rect b="b" l="l" r="r" t="t"/>
            <a:pathLst>
              <a:path extrusionOk="0" h="3710147" w="3568760">
                <a:moveTo>
                  <a:pt x="0" y="0"/>
                </a:moveTo>
                <a:lnTo>
                  <a:pt x="3133494" y="0"/>
                </a:lnTo>
                <a:lnTo>
                  <a:pt x="3167305" y="45215"/>
                </a:lnTo>
                <a:cubicBezTo>
                  <a:pt x="3420763" y="420383"/>
                  <a:pt x="3568760" y="872653"/>
                  <a:pt x="3568760" y="1359490"/>
                </a:cubicBezTo>
                <a:cubicBezTo>
                  <a:pt x="3568760" y="2657722"/>
                  <a:pt x="2516335" y="3710147"/>
                  <a:pt x="1218103" y="3710147"/>
                </a:cubicBezTo>
                <a:cubicBezTo>
                  <a:pt x="812406" y="3710147"/>
                  <a:pt x="430713" y="3607371"/>
                  <a:pt x="97640" y="3426435"/>
                </a:cubicBezTo>
                <a:lnTo>
                  <a:pt x="0" y="33671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0"/>
          <p:cNvSpPr txBox="1"/>
          <p:nvPr/>
        </p:nvSpPr>
        <p:spPr>
          <a:xfrm>
            <a:off x="1235087" y="635250"/>
            <a:ext cx="4519500" cy="47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Disruption and Impact</a:t>
            </a:r>
            <a:endParaRPr/>
          </a:p>
        </p:txBody>
      </p:sp>
      <p:sp>
        <p:nvSpPr>
          <p:cNvPr id="461" name="Google Shape;461;p40"/>
          <p:cNvSpPr/>
          <p:nvPr/>
        </p:nvSpPr>
        <p:spPr>
          <a:xfrm>
            <a:off x="1208213" y="529356"/>
            <a:ext cx="4573200" cy="688800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0"/>
          <p:cNvSpPr/>
          <p:nvPr/>
        </p:nvSpPr>
        <p:spPr>
          <a:xfrm>
            <a:off x="6444526" y="-596900"/>
            <a:ext cx="6103200" cy="6103200"/>
          </a:xfrm>
          <a:prstGeom prst="ellipse">
            <a:avLst/>
          </a:prstGeom>
          <a:noFill/>
          <a:ln cap="flat" cmpd="sng" w="12700">
            <a:solidFill>
              <a:srgbClr val="0662A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sky, day&#10;&#10;Description automatically generated" id="463" name="Google Shape;46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3700" y="-298450"/>
            <a:ext cx="5505600" cy="55056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464" name="Google Shape;464;p40"/>
          <p:cNvGrpSpPr/>
          <p:nvPr/>
        </p:nvGrpSpPr>
        <p:grpSpPr>
          <a:xfrm>
            <a:off x="1235075" y="1577156"/>
            <a:ext cx="4861055" cy="1077300"/>
            <a:chOff x="1235075" y="1741942"/>
            <a:chExt cx="4861055" cy="1077300"/>
          </a:xfrm>
        </p:grpSpPr>
        <p:grpSp>
          <p:nvGrpSpPr>
            <p:cNvPr id="465" name="Google Shape;465;p40"/>
            <p:cNvGrpSpPr/>
            <p:nvPr/>
          </p:nvGrpSpPr>
          <p:grpSpPr>
            <a:xfrm>
              <a:off x="1235075" y="1897751"/>
              <a:ext cx="688800" cy="688800"/>
              <a:chOff x="1235075" y="1922754"/>
              <a:chExt cx="688800" cy="688800"/>
            </a:xfrm>
          </p:grpSpPr>
          <p:sp>
            <p:nvSpPr>
              <p:cNvPr id="466" name="Google Shape;466;p40"/>
              <p:cNvSpPr txBox="1"/>
              <p:nvPr/>
            </p:nvSpPr>
            <p:spPr>
              <a:xfrm>
                <a:off x="1315548" y="2030178"/>
                <a:ext cx="527700" cy="477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01</a:t>
                </a:r>
                <a:endParaRPr/>
              </a:p>
            </p:txBody>
          </p:sp>
          <p:sp>
            <p:nvSpPr>
              <p:cNvPr id="467" name="Google Shape;467;p40"/>
              <p:cNvSpPr/>
              <p:nvPr/>
            </p:nvSpPr>
            <p:spPr>
              <a:xfrm>
                <a:off x="1235075" y="1922754"/>
                <a:ext cx="688800" cy="6888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F6CA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468" name="Google Shape;468;p40"/>
            <p:cNvSpPr txBox="1"/>
            <p:nvPr/>
          </p:nvSpPr>
          <p:spPr>
            <a:xfrm>
              <a:off x="1923730" y="1741942"/>
              <a:ext cx="4172400" cy="10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Disruption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rise of streaming services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8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changed how people consume entertainment (on-demand, no ads, binge model).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69" name="Google Shape;469;p40"/>
          <p:cNvGrpSpPr/>
          <p:nvPr/>
        </p:nvGrpSpPr>
        <p:grpSpPr>
          <a:xfrm>
            <a:off x="1235075" y="2864105"/>
            <a:ext cx="4861055" cy="954300"/>
            <a:chOff x="1235075" y="3034728"/>
            <a:chExt cx="4861055" cy="954300"/>
          </a:xfrm>
        </p:grpSpPr>
        <p:grpSp>
          <p:nvGrpSpPr>
            <p:cNvPr id="470" name="Google Shape;470;p40"/>
            <p:cNvGrpSpPr/>
            <p:nvPr/>
          </p:nvGrpSpPr>
          <p:grpSpPr>
            <a:xfrm>
              <a:off x="1235075" y="3036649"/>
              <a:ext cx="688800" cy="688800"/>
              <a:chOff x="1235075" y="3076432"/>
              <a:chExt cx="688800" cy="688800"/>
            </a:xfrm>
          </p:grpSpPr>
          <p:sp>
            <p:nvSpPr>
              <p:cNvPr id="471" name="Google Shape;471;p40"/>
              <p:cNvSpPr txBox="1"/>
              <p:nvPr/>
            </p:nvSpPr>
            <p:spPr>
              <a:xfrm>
                <a:off x="1283489" y="3183856"/>
                <a:ext cx="591900" cy="477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02</a:t>
                </a:r>
                <a:endParaRPr/>
              </a:p>
            </p:txBody>
          </p:sp>
          <p:sp>
            <p:nvSpPr>
              <p:cNvPr id="472" name="Google Shape;472;p40"/>
              <p:cNvSpPr/>
              <p:nvPr/>
            </p:nvSpPr>
            <p:spPr>
              <a:xfrm>
                <a:off x="1235075" y="3076432"/>
                <a:ext cx="688800" cy="6888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0662A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473" name="Google Shape;473;p40"/>
            <p:cNvSpPr txBox="1"/>
            <p:nvPr/>
          </p:nvSpPr>
          <p:spPr>
            <a:xfrm>
              <a:off x="1923730" y="3034728"/>
              <a:ext cx="41724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Quantify the Impact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lt1"/>
                  </a:solidFill>
                </a:rPr>
                <a:t>D</a:t>
              </a: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eclining cable subscriptions, lower theatrical revenues, shifting consumer attention to digital platforms.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4" name="Google Shape;474;p40"/>
          <p:cNvGrpSpPr/>
          <p:nvPr/>
        </p:nvGrpSpPr>
        <p:grpSpPr>
          <a:xfrm>
            <a:off x="1235075" y="4061275"/>
            <a:ext cx="4861043" cy="923400"/>
            <a:chOff x="1235088" y="4142848"/>
            <a:chExt cx="4861043" cy="923400"/>
          </a:xfrm>
        </p:grpSpPr>
        <p:grpSp>
          <p:nvGrpSpPr>
            <p:cNvPr id="475" name="Google Shape;475;p40"/>
            <p:cNvGrpSpPr/>
            <p:nvPr/>
          </p:nvGrpSpPr>
          <p:grpSpPr>
            <a:xfrm>
              <a:off x="1235088" y="4197097"/>
              <a:ext cx="688800" cy="688800"/>
              <a:chOff x="1235088" y="4251660"/>
              <a:chExt cx="688800" cy="688800"/>
            </a:xfrm>
          </p:grpSpPr>
          <p:sp>
            <p:nvSpPr>
              <p:cNvPr id="476" name="Google Shape;476;p40"/>
              <p:cNvSpPr txBox="1"/>
              <p:nvPr/>
            </p:nvSpPr>
            <p:spPr>
              <a:xfrm>
                <a:off x="1283488" y="4337534"/>
                <a:ext cx="591900" cy="477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03</a:t>
                </a:r>
                <a:endParaRPr/>
              </a:p>
            </p:txBody>
          </p:sp>
          <p:sp>
            <p:nvSpPr>
              <p:cNvPr id="477" name="Google Shape;477;p40"/>
              <p:cNvSpPr/>
              <p:nvPr/>
            </p:nvSpPr>
            <p:spPr>
              <a:xfrm>
                <a:off x="1235088" y="4251660"/>
                <a:ext cx="688800" cy="6888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348C4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478" name="Google Shape;478;p40"/>
            <p:cNvSpPr txBox="1"/>
            <p:nvPr/>
          </p:nvSpPr>
          <p:spPr>
            <a:xfrm>
              <a:off x="1923730" y="4142848"/>
              <a:ext cx="41724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Qualify the impact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Consumer expectations moved from scheduled programming to convenience, affordability, and content variety.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79" name="Google Shape;479;p40"/>
          <p:cNvGrpSpPr/>
          <p:nvPr/>
        </p:nvGrpSpPr>
        <p:grpSpPr>
          <a:xfrm>
            <a:off x="1235075" y="5227550"/>
            <a:ext cx="8434346" cy="1522200"/>
            <a:chOff x="1235075" y="5250961"/>
            <a:chExt cx="8434346" cy="1522200"/>
          </a:xfrm>
        </p:grpSpPr>
        <p:grpSp>
          <p:nvGrpSpPr>
            <p:cNvPr id="480" name="Google Shape;480;p40"/>
            <p:cNvGrpSpPr/>
            <p:nvPr/>
          </p:nvGrpSpPr>
          <p:grpSpPr>
            <a:xfrm>
              <a:off x="1235075" y="5314445"/>
              <a:ext cx="688800" cy="688800"/>
              <a:chOff x="1235075" y="5383789"/>
              <a:chExt cx="688800" cy="688800"/>
            </a:xfrm>
          </p:grpSpPr>
          <p:sp>
            <p:nvSpPr>
              <p:cNvPr id="481" name="Google Shape;481;p40"/>
              <p:cNvSpPr txBox="1"/>
              <p:nvPr/>
            </p:nvSpPr>
            <p:spPr>
              <a:xfrm>
                <a:off x="1267459" y="5491213"/>
                <a:ext cx="624000" cy="477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5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04</a:t>
                </a:r>
                <a:endParaRPr/>
              </a:p>
            </p:txBody>
          </p:sp>
          <p:sp>
            <p:nvSpPr>
              <p:cNvPr id="482" name="Google Shape;482;p40"/>
              <p:cNvSpPr/>
              <p:nvPr/>
            </p:nvSpPr>
            <p:spPr>
              <a:xfrm>
                <a:off x="1235075" y="5383789"/>
                <a:ext cx="688800" cy="6888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B460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483" name="Google Shape;483;p40"/>
            <p:cNvSpPr txBox="1"/>
            <p:nvPr/>
          </p:nvSpPr>
          <p:spPr>
            <a:xfrm>
              <a:off x="1923721" y="5250961"/>
              <a:ext cx="7745700" cy="152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Disney+ and Hulu</a:t>
              </a:r>
              <a:endParaRPr b="1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Disney+ launched in 2019 and became central to Disney’s digital transformation. Along with Hulu (which Disney now controls), the two platforms allow Disney to target different audiences. Disney+ for family-friendly content and Hulu for more mature programming, which strengthened its streaming system.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73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0298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